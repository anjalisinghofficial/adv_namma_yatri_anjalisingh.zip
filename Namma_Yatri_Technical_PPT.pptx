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latsi" charset="1" panose="00000500000000000000"/>
      <p:regular r:id="rId20"/>
    </p:embeddedFont>
    <p:embeddedFont>
      <p:font typeface="Open Sans Bold" charset="1" panose="020B0806030504020204"/>
      <p:regular r:id="rId21"/>
    </p:embeddedFont>
    <p:embeddedFont>
      <p:font typeface="Abhaya Libre Bold" charset="1" panose="02000803000000000000"/>
      <p:regular r:id="rId22"/>
    </p:embeddedFont>
    <p:embeddedFont>
      <p:font typeface="Arimo Bold" charset="1" panose="020B0704020202020204"/>
      <p:regular r:id="rId23"/>
    </p:embeddedFont>
    <p:embeddedFont>
      <p:font typeface="Agrandir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 Id="rId5"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 Id="rId6"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0" y="0"/>
            <a:ext cx="4239083" cy="10287000"/>
            <a:chOff x="0" y="0"/>
            <a:chExt cx="5652111" cy="13716000"/>
          </a:xfrm>
        </p:grpSpPr>
        <p:grpSp>
          <p:nvGrpSpPr>
            <p:cNvPr name="Group 3" id="3"/>
            <p:cNvGrpSpPr/>
            <p:nvPr/>
          </p:nvGrpSpPr>
          <p:grpSpPr>
            <a:xfrm rot="0">
              <a:off x="2826056" y="0"/>
              <a:ext cx="2826056" cy="13716000"/>
              <a:chOff x="0" y="0"/>
              <a:chExt cx="558233" cy="2709333"/>
            </a:xfrm>
          </p:grpSpPr>
          <p:sp>
            <p:nvSpPr>
              <p:cNvPr name="Freeform 4" id="4"/>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5" id="5"/>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413028"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2" id="12"/>
          <p:cNvSpPr/>
          <p:nvPr/>
        </p:nvSpPr>
        <p:spPr>
          <a:xfrm flipH="false" flipV="false" rot="0">
            <a:off x="1264689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831326" y="8635563"/>
            <a:ext cx="12625348" cy="803653"/>
          </a:xfrm>
          <a:prstGeom prst="rect">
            <a:avLst/>
          </a:prstGeom>
        </p:spPr>
        <p:txBody>
          <a:bodyPr anchor="t" rtlCol="false" tIns="0" lIns="0" bIns="0" rIns="0">
            <a:spAutoFit/>
          </a:bodyPr>
          <a:lstStyle/>
          <a:p>
            <a:pPr algn="ctr">
              <a:lnSpc>
                <a:spcPts val="6629"/>
              </a:lnSpc>
            </a:pPr>
            <a:r>
              <a:rPr lang="en-US" sz="4735">
                <a:solidFill>
                  <a:srgbClr val="000000"/>
                </a:solidFill>
                <a:latin typeface="Alatsi"/>
                <a:ea typeface="Alatsi"/>
                <a:cs typeface="Alatsi"/>
                <a:sym typeface="Alatsi"/>
              </a:rPr>
              <a:t>Presented By : Anjali Singh</a:t>
            </a:r>
          </a:p>
        </p:txBody>
      </p:sp>
      <p:sp>
        <p:nvSpPr>
          <p:cNvPr name="Freeform 14" id="14"/>
          <p:cNvSpPr/>
          <p:nvPr/>
        </p:nvSpPr>
        <p:spPr>
          <a:xfrm flipH="false" flipV="false" rot="0">
            <a:off x="11118095"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7707160" y="846098"/>
            <a:ext cx="2470453" cy="2451340"/>
          </a:xfrm>
          <a:custGeom>
            <a:avLst/>
            <a:gdLst/>
            <a:ahLst/>
            <a:cxnLst/>
            <a:rect r="r" b="b" t="t" l="l"/>
            <a:pathLst>
              <a:path h="2451340" w="2470453">
                <a:moveTo>
                  <a:pt x="0" y="0"/>
                </a:moveTo>
                <a:lnTo>
                  <a:pt x="2470453" y="0"/>
                </a:lnTo>
                <a:lnTo>
                  <a:pt x="2470453" y="2451340"/>
                </a:lnTo>
                <a:lnTo>
                  <a:pt x="0" y="2451340"/>
                </a:lnTo>
                <a:lnTo>
                  <a:pt x="0" y="0"/>
                </a:lnTo>
                <a:close/>
              </a:path>
            </a:pathLst>
          </a:custGeom>
          <a:blipFill>
            <a:blip r:embed="rId4"/>
            <a:stretch>
              <a:fillRect l="-12351" t="0" r="-12351" b="0"/>
            </a:stretch>
          </a:blipFill>
        </p:spPr>
      </p:sp>
      <p:sp>
        <p:nvSpPr>
          <p:cNvPr name="TextBox 16" id="16"/>
          <p:cNvSpPr txBox="true"/>
          <p:nvPr/>
        </p:nvSpPr>
        <p:spPr>
          <a:xfrm rot="0">
            <a:off x="1231204" y="6456310"/>
            <a:ext cx="16633827" cy="971547"/>
          </a:xfrm>
          <a:prstGeom prst="rect">
            <a:avLst/>
          </a:prstGeom>
        </p:spPr>
        <p:txBody>
          <a:bodyPr anchor="t" rtlCol="false" tIns="0" lIns="0" bIns="0" rIns="0">
            <a:spAutoFit/>
          </a:bodyPr>
          <a:lstStyle/>
          <a:p>
            <a:pPr algn="ctr">
              <a:lnSpc>
                <a:spcPts val="7274"/>
              </a:lnSpc>
            </a:pPr>
            <a:r>
              <a:rPr lang="en-US" sz="7499">
                <a:solidFill>
                  <a:srgbClr val="000000"/>
                </a:solidFill>
                <a:latin typeface="Alatsi"/>
                <a:ea typeface="Alatsi"/>
                <a:cs typeface="Alatsi"/>
                <a:sym typeface="Alatsi"/>
              </a:rPr>
              <a:t>---TECHNICAL METHODOLOGY REPORT --</a:t>
            </a:r>
          </a:p>
        </p:txBody>
      </p:sp>
      <p:sp>
        <p:nvSpPr>
          <p:cNvPr name="TextBox 17" id="17"/>
          <p:cNvSpPr txBox="true"/>
          <p:nvPr/>
        </p:nvSpPr>
        <p:spPr>
          <a:xfrm rot="0">
            <a:off x="6101680" y="3383416"/>
            <a:ext cx="7613928" cy="1783722"/>
          </a:xfrm>
          <a:prstGeom prst="rect">
            <a:avLst/>
          </a:prstGeom>
        </p:spPr>
        <p:txBody>
          <a:bodyPr anchor="t" rtlCol="false" tIns="0" lIns="0" bIns="0" rIns="0">
            <a:spAutoFit/>
          </a:bodyPr>
          <a:lstStyle/>
          <a:p>
            <a:pPr algn="ctr">
              <a:lnSpc>
                <a:spcPts val="14559"/>
              </a:lnSpc>
            </a:pPr>
            <a:r>
              <a:rPr lang="en-US" sz="10399">
                <a:solidFill>
                  <a:srgbClr val="000000"/>
                </a:solidFill>
                <a:latin typeface="Alatsi"/>
                <a:ea typeface="Alatsi"/>
                <a:cs typeface="Alatsi"/>
                <a:sym typeface="Alatsi"/>
              </a:rPr>
              <a:t>Namma Yatri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791340" y="2895980"/>
            <a:ext cx="15979179" cy="5773283"/>
          </a:xfrm>
          <a:prstGeom prst="rect">
            <a:avLst/>
          </a:prstGeom>
        </p:spPr>
        <p:txBody>
          <a:bodyPr anchor="t" rtlCol="false" tIns="0" lIns="0" bIns="0" rIns="0">
            <a:spAutoFit/>
          </a:bodyPr>
          <a:lstStyle/>
          <a:p>
            <a:pPr algn="l">
              <a:lnSpc>
                <a:spcPts val="5712"/>
              </a:lnSpc>
            </a:pPr>
            <a:r>
              <a:rPr lang="en-US" sz="4080">
                <a:solidFill>
                  <a:srgbClr val="000000"/>
                </a:solidFill>
                <a:latin typeface="Alatsi"/>
                <a:ea typeface="Alatsi"/>
                <a:cs typeface="Alatsi"/>
                <a:sym typeface="Alatsi"/>
              </a:rPr>
              <a:t>Namma Yatri seeks to optimise its operations and gain deeper insights into ride patterns, customer behaviour, and operational bottlenecks. As an analyst at Namma Yatri, the task is to explore the company’s trip data. The goal is to uncover insights that can guide decisions to improve service efficiency, maximise revenue, and enhance customer satisfaction. Through this case study,  perform Exploratory Data Analysis (EDA) on the Namma Yatri dataset and present actionable insights.</a:t>
            </a:r>
          </a:p>
        </p:txBody>
      </p:sp>
      <p:sp>
        <p:nvSpPr>
          <p:cNvPr name="AutoShape 3" id="3"/>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3764167" y="620819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TextBox 6" id="6"/>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AGENDA</a:t>
            </a:r>
          </a:p>
        </p:txBody>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a:t>
              </a:r>
            </a:p>
          </p:txBody>
        </p:sp>
      </p:grpSp>
      <p:sp>
        <p:nvSpPr>
          <p:cNvPr name="Freeform 12" id="12"/>
          <p:cNvSpPr/>
          <p:nvPr/>
        </p:nvSpPr>
        <p:spPr>
          <a:xfrm flipH="false" flipV="false" rot="0">
            <a:off x="-2627572" y="-73333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222605" y="8530385"/>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313629" y="674688"/>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OVERVIEW</a:t>
            </a:r>
          </a:p>
        </p:txBody>
      </p:sp>
      <p:sp>
        <p:nvSpPr>
          <p:cNvPr name="TextBox 3" id="3"/>
          <p:cNvSpPr txBox="true"/>
          <p:nvPr/>
        </p:nvSpPr>
        <p:spPr>
          <a:xfrm rot="0">
            <a:off x="9815865" y="5331521"/>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Conclusion</a:t>
            </a:r>
          </a:p>
        </p:txBody>
      </p:sp>
      <p:sp>
        <p:nvSpPr>
          <p:cNvPr name="AutoShape 4" id="4"/>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5" id="5"/>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a:t>
              </a:r>
            </a:p>
          </p:txBody>
        </p:sp>
      </p:grpSp>
      <p:sp>
        <p:nvSpPr>
          <p:cNvPr name="Freeform 11" id="11"/>
          <p:cNvSpPr/>
          <p:nvPr/>
        </p:nvSpPr>
        <p:spPr>
          <a:xfrm flipH="false" flipV="false" rot="0">
            <a:off x="-2845001" y="43433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220233" y="57595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222605" y="8429686"/>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sp>
        <p:nvSpPr>
          <p:cNvPr name="TextBox 14" id="14"/>
          <p:cNvSpPr txBox="true"/>
          <p:nvPr/>
        </p:nvSpPr>
        <p:spPr>
          <a:xfrm rot="0">
            <a:off x="1221986" y="330263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Objectives</a:t>
            </a:r>
          </a:p>
        </p:txBody>
      </p:sp>
      <p:sp>
        <p:nvSpPr>
          <p:cNvPr name="TextBox 15" id="15"/>
          <p:cNvSpPr txBox="true"/>
          <p:nvPr/>
        </p:nvSpPr>
        <p:spPr>
          <a:xfrm rot="0">
            <a:off x="1028700" y="6444736"/>
            <a:ext cx="5241454"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Data Cleaning</a:t>
            </a:r>
          </a:p>
        </p:txBody>
      </p:sp>
      <p:sp>
        <p:nvSpPr>
          <p:cNvPr name="TextBox 16" id="16"/>
          <p:cNvSpPr txBox="true"/>
          <p:nvPr/>
        </p:nvSpPr>
        <p:spPr>
          <a:xfrm rot="0">
            <a:off x="1013628" y="7560431"/>
            <a:ext cx="8130372" cy="1287145"/>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Exploratory Data Analysis (EDA)</a:t>
            </a:r>
          </a:p>
          <a:p>
            <a:pPr algn="l">
              <a:lnSpc>
                <a:spcPts val="5179"/>
              </a:lnSpc>
            </a:pPr>
          </a:p>
        </p:txBody>
      </p:sp>
      <p:sp>
        <p:nvSpPr>
          <p:cNvPr name="TextBox 17" id="17"/>
          <p:cNvSpPr txBox="true"/>
          <p:nvPr/>
        </p:nvSpPr>
        <p:spPr>
          <a:xfrm rot="0">
            <a:off x="9815865" y="432308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Dashboard</a:t>
            </a:r>
          </a:p>
        </p:txBody>
      </p:sp>
      <p:sp>
        <p:nvSpPr>
          <p:cNvPr name="TextBox 18" id="18"/>
          <p:cNvSpPr txBox="true"/>
          <p:nvPr/>
        </p:nvSpPr>
        <p:spPr>
          <a:xfrm rot="0">
            <a:off x="1028700" y="432308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Scope</a:t>
            </a:r>
          </a:p>
        </p:txBody>
      </p:sp>
      <p:sp>
        <p:nvSpPr>
          <p:cNvPr name="TextBox 19" id="19"/>
          <p:cNvSpPr txBox="true"/>
          <p:nvPr/>
        </p:nvSpPr>
        <p:spPr>
          <a:xfrm rot="0">
            <a:off x="1028700" y="5331521"/>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Relationship</a:t>
            </a:r>
          </a:p>
        </p:txBody>
      </p:sp>
      <p:sp>
        <p:nvSpPr>
          <p:cNvPr name="TextBox 20" id="20"/>
          <p:cNvSpPr txBox="true"/>
          <p:nvPr/>
        </p:nvSpPr>
        <p:spPr>
          <a:xfrm rot="0">
            <a:off x="9583704" y="3199674"/>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Methodology</a:t>
            </a:r>
          </a:p>
        </p:txBody>
      </p:sp>
      <p:sp>
        <p:nvSpPr>
          <p:cNvPr name="TextBox 21" id="21"/>
          <p:cNvSpPr txBox="true"/>
          <p:nvPr/>
        </p:nvSpPr>
        <p:spPr>
          <a:xfrm rot="0">
            <a:off x="9815865" y="6342441"/>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a:ea typeface="Alatsi"/>
                <a:cs typeface="Alatsi"/>
                <a:sym typeface="Alatsi"/>
              </a:rPr>
              <a:t>Appendix</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2012909" y="2797221"/>
            <a:ext cx="5246391" cy="5246370"/>
            <a:chOff x="0" y="0"/>
            <a:chExt cx="6350025" cy="6350000"/>
          </a:xfrm>
        </p:grpSpPr>
        <p:sp>
          <p:nvSpPr>
            <p:cNvPr name="Freeform 6" id="6"/>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55262" t="0" r="-55262" b="0"/>
              </a:stretch>
            </a:blipFill>
          </p:spPr>
        </p:sp>
      </p:grpSp>
      <p:sp>
        <p:nvSpPr>
          <p:cNvPr name="TextBox 7" id="7"/>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OBJECTIVE</a:t>
            </a:r>
          </a:p>
        </p:txBody>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3</a:t>
              </a:r>
            </a:p>
          </p:txBody>
        </p:sp>
      </p:grpSp>
      <p:sp>
        <p:nvSpPr>
          <p:cNvPr name="Freeform 13" id="13"/>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209670" y="2895980"/>
            <a:ext cx="10793714" cy="5885906"/>
          </a:xfrm>
          <a:prstGeom prst="rect">
            <a:avLst/>
          </a:prstGeom>
        </p:spPr>
        <p:txBody>
          <a:bodyPr anchor="t" rtlCol="false" tIns="0" lIns="0" bIns="0" rIns="0">
            <a:spAutoFit/>
          </a:bodyPr>
          <a:lstStyle/>
          <a:p>
            <a:pPr algn="l">
              <a:lnSpc>
                <a:spcPts val="5852"/>
              </a:lnSpc>
            </a:pPr>
            <a:r>
              <a:rPr lang="en-US" sz="4180">
                <a:solidFill>
                  <a:srgbClr val="000000"/>
                </a:solidFill>
                <a:latin typeface="Alatsi"/>
                <a:ea typeface="Alatsi"/>
                <a:cs typeface="Alatsi"/>
                <a:sym typeface="Alatsi"/>
              </a:rPr>
              <a:t>Uncover trip patterns, cancellations, revenue trends, and payment preferences through structured analysis.</a:t>
            </a:r>
          </a:p>
          <a:p>
            <a:pPr algn="l" marL="902545" indent="-451273" lvl="1">
              <a:lnSpc>
                <a:spcPts val="5852"/>
              </a:lnSpc>
              <a:buFont typeface="Arial"/>
              <a:buChar char="•"/>
            </a:pPr>
            <a:r>
              <a:rPr lang="en-US" sz="4180">
                <a:solidFill>
                  <a:srgbClr val="000000"/>
                </a:solidFill>
                <a:latin typeface="Alatsi"/>
                <a:ea typeface="Alatsi"/>
                <a:cs typeface="Alatsi"/>
                <a:sym typeface="Alatsi"/>
              </a:rPr>
              <a:t>Fix low-zone technical bottlenecks (23-24).</a:t>
            </a:r>
          </a:p>
          <a:p>
            <a:pPr algn="l" marL="902545" indent="-451273" lvl="1">
              <a:lnSpc>
                <a:spcPts val="5852"/>
              </a:lnSpc>
              <a:buFont typeface="Arial"/>
              <a:buChar char="•"/>
            </a:pPr>
            <a:r>
              <a:rPr lang="en-US" sz="4180">
                <a:solidFill>
                  <a:srgbClr val="000000"/>
                </a:solidFill>
                <a:latin typeface="Alatsi"/>
                <a:ea typeface="Alatsi"/>
                <a:cs typeface="Alatsi"/>
                <a:sym typeface="Alatsi"/>
              </a:rPr>
              <a:t>Automate failed payment recovery system.</a:t>
            </a:r>
          </a:p>
          <a:p>
            <a:pPr algn="l">
              <a:lnSpc>
                <a:spcPts val="5852"/>
              </a:lnSpc>
            </a:pPr>
          </a:p>
          <a:p>
            <a:pPr algn="l">
              <a:lnSpc>
                <a:spcPts val="5852"/>
              </a:lnSpc>
            </a:pPr>
          </a:p>
        </p:txBody>
      </p:sp>
      <p:sp>
        <p:nvSpPr>
          <p:cNvPr name="Freeform 15" id="15"/>
          <p:cNvSpPr/>
          <p:nvPr/>
        </p:nvSpPr>
        <p:spPr>
          <a:xfrm flipH="false" flipV="false" rot="0">
            <a:off x="8445504" y="8530385"/>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3918390" y="866775"/>
            <a:ext cx="1045121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SCOPE</a:t>
            </a:r>
          </a:p>
        </p:txBody>
      </p:sp>
      <p:grpSp>
        <p:nvGrpSpPr>
          <p:cNvPr name="Group 3" id="3"/>
          <p:cNvGrpSpPr/>
          <p:nvPr/>
        </p:nvGrpSpPr>
        <p:grpSpPr>
          <a:xfrm rot="0">
            <a:off x="1555723" y="2892931"/>
            <a:ext cx="6651535" cy="1406187"/>
            <a:chOff x="0" y="0"/>
            <a:chExt cx="8868713" cy="1874916"/>
          </a:xfrm>
        </p:grpSpPr>
        <p:grpSp>
          <p:nvGrpSpPr>
            <p:cNvPr name="Group 4" id="4"/>
            <p:cNvGrpSpPr/>
            <p:nvPr/>
          </p:nvGrpSpPr>
          <p:grpSpPr>
            <a:xfrm rot="0">
              <a:off x="0" y="0"/>
              <a:ext cx="8868713" cy="1874916"/>
              <a:chOff x="0" y="0"/>
              <a:chExt cx="1751844" cy="370354"/>
            </a:xfrm>
          </p:grpSpPr>
          <p:sp>
            <p:nvSpPr>
              <p:cNvPr name="Freeform 5" id="5"/>
              <p:cNvSpPr/>
              <p:nvPr/>
            </p:nvSpPr>
            <p:spPr>
              <a:xfrm flipH="false" flipV="false" rot="0">
                <a:off x="0" y="0"/>
                <a:ext cx="1751844" cy="370354"/>
              </a:xfrm>
              <a:custGeom>
                <a:avLst/>
                <a:gdLst/>
                <a:ahLst/>
                <a:cxnLst/>
                <a:rect r="r" b="b" t="t" l="l"/>
                <a:pathLst>
                  <a:path h="370354" w="1751844">
                    <a:moveTo>
                      <a:pt x="59360" y="0"/>
                    </a:moveTo>
                    <a:lnTo>
                      <a:pt x="1692484" y="0"/>
                    </a:lnTo>
                    <a:cubicBezTo>
                      <a:pt x="1725268" y="0"/>
                      <a:pt x="1751844" y="26577"/>
                      <a:pt x="1751844" y="59360"/>
                    </a:cubicBezTo>
                    <a:lnTo>
                      <a:pt x="1751844" y="310993"/>
                    </a:lnTo>
                    <a:cubicBezTo>
                      <a:pt x="1751844" y="326737"/>
                      <a:pt x="1745590" y="341835"/>
                      <a:pt x="1734458" y="352967"/>
                    </a:cubicBezTo>
                    <a:cubicBezTo>
                      <a:pt x="1723326" y="364100"/>
                      <a:pt x="1708227" y="370354"/>
                      <a:pt x="1692484" y="370354"/>
                    </a:cubicBezTo>
                    <a:lnTo>
                      <a:pt x="59360" y="370354"/>
                    </a:lnTo>
                    <a:cubicBezTo>
                      <a:pt x="26577" y="370354"/>
                      <a:pt x="0" y="343777"/>
                      <a:pt x="0" y="310993"/>
                    </a:cubicBezTo>
                    <a:lnTo>
                      <a:pt x="0" y="59360"/>
                    </a:lnTo>
                    <a:cubicBezTo>
                      <a:pt x="0" y="26577"/>
                      <a:pt x="26577" y="0"/>
                      <a:pt x="59360" y="0"/>
                    </a:cubicBezTo>
                    <a:close/>
                  </a:path>
                </a:pathLst>
              </a:custGeom>
              <a:solidFill>
                <a:srgbClr val="E9C7C6"/>
              </a:solidFill>
            </p:spPr>
          </p:sp>
          <p:sp>
            <p:nvSpPr>
              <p:cNvPr name="TextBox 6" id="6"/>
              <p:cNvSpPr txBox="true"/>
              <p:nvPr/>
            </p:nvSpPr>
            <p:spPr>
              <a:xfrm>
                <a:off x="0" y="-38100"/>
                <a:ext cx="1751844" cy="408454"/>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695604" y="133350"/>
              <a:ext cx="7735510" cy="1368589"/>
            </a:xfrm>
            <a:prstGeom prst="rect">
              <a:avLst/>
            </a:prstGeom>
          </p:spPr>
          <p:txBody>
            <a:bodyPr anchor="t" rtlCol="false" tIns="0" lIns="0" bIns="0" rIns="0">
              <a:spAutoFit/>
            </a:bodyPr>
            <a:lstStyle/>
            <a:p>
              <a:pPr algn="l">
                <a:lnSpc>
                  <a:spcPts val="4193"/>
                </a:lnSpc>
              </a:pPr>
              <a:r>
                <a:rPr lang="en-US" sz="2995">
                  <a:solidFill>
                    <a:srgbClr val="000000"/>
                  </a:solidFill>
                  <a:latin typeface="Alatsi"/>
                  <a:ea typeface="Alatsi"/>
                  <a:cs typeface="Alatsi"/>
                  <a:sym typeface="Alatsi"/>
                </a:rPr>
                <a:t>Data model &amp; preparation steps</a:t>
              </a:r>
            </a:p>
            <a:p>
              <a:pPr algn="l">
                <a:lnSpc>
                  <a:spcPts val="4193"/>
                </a:lnSpc>
              </a:pPr>
            </a:p>
          </p:txBody>
        </p:sp>
      </p:grpSp>
      <p:sp>
        <p:nvSpPr>
          <p:cNvPr name="TextBox 8" id="8"/>
          <p:cNvSpPr txBox="true"/>
          <p:nvPr/>
        </p:nvSpPr>
        <p:spPr>
          <a:xfrm rot="0">
            <a:off x="1827282" y="2222098"/>
            <a:ext cx="4182217"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a:ea typeface="Alatsi"/>
                <a:cs typeface="Alatsi"/>
                <a:sym typeface="Alatsi"/>
              </a:rPr>
              <a:t>First </a:t>
            </a:r>
          </a:p>
        </p:txBody>
      </p:sp>
      <p:grpSp>
        <p:nvGrpSpPr>
          <p:cNvPr name="Group 9" id="9"/>
          <p:cNvGrpSpPr/>
          <p:nvPr/>
        </p:nvGrpSpPr>
        <p:grpSpPr>
          <a:xfrm rot="0">
            <a:off x="1555723" y="5980246"/>
            <a:ext cx="6651535" cy="1936015"/>
            <a:chOff x="0" y="0"/>
            <a:chExt cx="8868713" cy="2581354"/>
          </a:xfrm>
        </p:grpSpPr>
        <p:grpSp>
          <p:nvGrpSpPr>
            <p:cNvPr name="Group 10" id="10"/>
            <p:cNvGrpSpPr/>
            <p:nvPr/>
          </p:nvGrpSpPr>
          <p:grpSpPr>
            <a:xfrm rot="0">
              <a:off x="0" y="0"/>
              <a:ext cx="8868713" cy="2581354"/>
              <a:chOff x="0" y="0"/>
              <a:chExt cx="1751844" cy="509897"/>
            </a:xfrm>
          </p:grpSpPr>
          <p:sp>
            <p:nvSpPr>
              <p:cNvPr name="Freeform 11" id="11"/>
              <p:cNvSpPr/>
              <p:nvPr/>
            </p:nvSpPr>
            <p:spPr>
              <a:xfrm flipH="false" flipV="false" rot="0">
                <a:off x="0" y="0"/>
                <a:ext cx="1751844" cy="509897"/>
              </a:xfrm>
              <a:custGeom>
                <a:avLst/>
                <a:gdLst/>
                <a:ahLst/>
                <a:cxnLst/>
                <a:rect r="r" b="b" t="t" l="l"/>
                <a:pathLst>
                  <a:path h="509897" w="1751844">
                    <a:moveTo>
                      <a:pt x="59360" y="0"/>
                    </a:moveTo>
                    <a:lnTo>
                      <a:pt x="1692484" y="0"/>
                    </a:lnTo>
                    <a:cubicBezTo>
                      <a:pt x="1725268" y="0"/>
                      <a:pt x="1751844" y="26577"/>
                      <a:pt x="1751844" y="59360"/>
                    </a:cubicBezTo>
                    <a:lnTo>
                      <a:pt x="1751844" y="450537"/>
                    </a:lnTo>
                    <a:cubicBezTo>
                      <a:pt x="1751844" y="466280"/>
                      <a:pt x="1745590" y="481379"/>
                      <a:pt x="1734458" y="492511"/>
                    </a:cubicBezTo>
                    <a:cubicBezTo>
                      <a:pt x="1723326" y="503643"/>
                      <a:pt x="1708227" y="509897"/>
                      <a:pt x="1692484" y="509897"/>
                    </a:cubicBezTo>
                    <a:lnTo>
                      <a:pt x="59360" y="509897"/>
                    </a:lnTo>
                    <a:cubicBezTo>
                      <a:pt x="26577" y="509897"/>
                      <a:pt x="0" y="483320"/>
                      <a:pt x="0" y="450537"/>
                    </a:cubicBezTo>
                    <a:lnTo>
                      <a:pt x="0" y="59360"/>
                    </a:lnTo>
                    <a:cubicBezTo>
                      <a:pt x="0" y="26577"/>
                      <a:pt x="26577" y="0"/>
                      <a:pt x="59360" y="0"/>
                    </a:cubicBezTo>
                    <a:close/>
                  </a:path>
                </a:pathLst>
              </a:custGeom>
              <a:solidFill>
                <a:srgbClr val="E9C7C6"/>
              </a:solidFill>
            </p:spPr>
          </p:sp>
          <p:sp>
            <p:nvSpPr>
              <p:cNvPr name="TextBox 12" id="12"/>
              <p:cNvSpPr txBox="true"/>
              <p:nvPr/>
            </p:nvSpPr>
            <p:spPr>
              <a:xfrm>
                <a:off x="0" y="-38100"/>
                <a:ext cx="1751844" cy="547997"/>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95604" y="133350"/>
              <a:ext cx="7735510" cy="2075027"/>
            </a:xfrm>
            <a:prstGeom prst="rect">
              <a:avLst/>
            </a:prstGeom>
          </p:spPr>
          <p:txBody>
            <a:bodyPr anchor="t" rtlCol="false" tIns="0" lIns="0" bIns="0" rIns="0">
              <a:spAutoFit/>
            </a:bodyPr>
            <a:lstStyle/>
            <a:p>
              <a:pPr algn="l">
                <a:lnSpc>
                  <a:spcPts val="4193"/>
                </a:lnSpc>
              </a:pPr>
              <a:r>
                <a:rPr lang="en-US" sz="2995">
                  <a:solidFill>
                    <a:srgbClr val="000000"/>
                  </a:solidFill>
                  <a:latin typeface="Alatsi"/>
                  <a:ea typeface="Alatsi"/>
                  <a:cs typeface="Alatsi"/>
                  <a:sym typeface="Alatsi"/>
                </a:rPr>
                <a:t>Feature engineering (calculated fields, metrics)</a:t>
              </a:r>
            </a:p>
            <a:p>
              <a:pPr algn="l">
                <a:lnSpc>
                  <a:spcPts val="4193"/>
                </a:lnSpc>
              </a:pPr>
            </a:p>
          </p:txBody>
        </p:sp>
      </p:grpSp>
      <p:sp>
        <p:nvSpPr>
          <p:cNvPr name="TextBox 14" id="14"/>
          <p:cNvSpPr txBox="true"/>
          <p:nvPr/>
        </p:nvSpPr>
        <p:spPr>
          <a:xfrm rot="0">
            <a:off x="1911294" y="5309413"/>
            <a:ext cx="5276728"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a:ea typeface="Alatsi"/>
                <a:cs typeface="Alatsi"/>
                <a:sym typeface="Alatsi"/>
              </a:rPr>
              <a:t>Second </a:t>
            </a:r>
          </a:p>
        </p:txBody>
      </p:sp>
      <p:sp>
        <p:nvSpPr>
          <p:cNvPr name="AutoShape 15" id="15"/>
          <p:cNvSpPr/>
          <p:nvPr/>
        </p:nvSpPr>
        <p:spPr>
          <a:xfrm flipH="true" flipV="true">
            <a:off x="1090490" y="-104525"/>
            <a:ext cx="5403" cy="2997456"/>
          </a:xfrm>
          <a:prstGeom prst="line">
            <a:avLst/>
          </a:prstGeom>
          <a:ln cap="flat" w="114300">
            <a:solidFill>
              <a:srgbClr val="9FC3D0"/>
            </a:solidFill>
            <a:prstDash val="solid"/>
            <a:headEnd type="none" len="sm" w="sm"/>
            <a:tailEnd type="none" len="sm" w="sm"/>
          </a:ln>
        </p:spPr>
      </p:sp>
      <p:sp>
        <p:nvSpPr>
          <p:cNvPr name="AutoShape 16" id="16"/>
          <p:cNvSpPr/>
          <p:nvPr/>
        </p:nvSpPr>
        <p:spPr>
          <a:xfrm flipH="true" flipV="true">
            <a:off x="1085850" y="7289441"/>
            <a:ext cx="5403" cy="2997456"/>
          </a:xfrm>
          <a:prstGeom prst="line">
            <a:avLst/>
          </a:prstGeom>
          <a:ln cap="flat" w="114300">
            <a:solidFill>
              <a:srgbClr val="9FC3D0"/>
            </a:solidFill>
            <a:prstDash val="solid"/>
            <a:headEnd type="none" len="sm" w="sm"/>
            <a:tailEnd type="none" len="sm" w="sm"/>
          </a:ln>
        </p:spPr>
      </p:sp>
      <p:grpSp>
        <p:nvGrpSpPr>
          <p:cNvPr name="Group 17" id="17"/>
          <p:cNvGrpSpPr/>
          <p:nvPr/>
        </p:nvGrpSpPr>
        <p:grpSpPr>
          <a:xfrm rot="0">
            <a:off x="15859155" y="0"/>
            <a:ext cx="1562612" cy="1673225"/>
            <a:chOff x="0" y="0"/>
            <a:chExt cx="2083482" cy="2230967"/>
          </a:xfrm>
        </p:grpSpPr>
        <p:grpSp>
          <p:nvGrpSpPr>
            <p:cNvPr name="Group 18" id="18"/>
            <p:cNvGrpSpPr/>
            <p:nvPr/>
          </p:nvGrpSpPr>
          <p:grpSpPr>
            <a:xfrm rot="0">
              <a:off x="75599" y="0"/>
              <a:ext cx="1932284" cy="2230967"/>
              <a:chOff x="0" y="0"/>
              <a:chExt cx="703982" cy="812800"/>
            </a:xfrm>
          </p:grpSpPr>
          <p:sp>
            <p:nvSpPr>
              <p:cNvPr name="Freeform 19" id="1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0" id="2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4</a:t>
              </a:r>
            </a:p>
          </p:txBody>
        </p:sp>
      </p:grpSp>
      <p:sp>
        <p:nvSpPr>
          <p:cNvPr name="Freeform 22" id="22"/>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11169765" y="2346326"/>
            <a:ext cx="4182217"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a:ea typeface="Alatsi"/>
                <a:cs typeface="Alatsi"/>
                <a:sym typeface="Alatsi"/>
              </a:rPr>
              <a:t>Third</a:t>
            </a:r>
          </a:p>
        </p:txBody>
      </p:sp>
      <p:grpSp>
        <p:nvGrpSpPr>
          <p:cNvPr name="Group 25" id="25"/>
          <p:cNvGrpSpPr/>
          <p:nvPr/>
        </p:nvGrpSpPr>
        <p:grpSpPr>
          <a:xfrm rot="0">
            <a:off x="10722487" y="3121933"/>
            <a:ext cx="5917974" cy="1177185"/>
            <a:chOff x="0" y="0"/>
            <a:chExt cx="1558643" cy="310040"/>
          </a:xfrm>
        </p:grpSpPr>
        <p:sp>
          <p:nvSpPr>
            <p:cNvPr name="Freeform 26" id="26"/>
            <p:cNvSpPr/>
            <p:nvPr/>
          </p:nvSpPr>
          <p:spPr>
            <a:xfrm flipH="false" flipV="false" rot="0">
              <a:off x="0" y="0"/>
              <a:ext cx="1558643" cy="310040"/>
            </a:xfrm>
            <a:custGeom>
              <a:avLst/>
              <a:gdLst/>
              <a:ahLst/>
              <a:cxnLst/>
              <a:rect r="r" b="b" t="t" l="l"/>
              <a:pathLst>
                <a:path h="310040" w="1558643">
                  <a:moveTo>
                    <a:pt x="85033" y="0"/>
                  </a:moveTo>
                  <a:lnTo>
                    <a:pt x="1473610" y="0"/>
                  </a:lnTo>
                  <a:cubicBezTo>
                    <a:pt x="1520573" y="0"/>
                    <a:pt x="1558643" y="38071"/>
                    <a:pt x="1558643" y="85033"/>
                  </a:cubicBezTo>
                  <a:lnTo>
                    <a:pt x="1558643" y="225007"/>
                  </a:lnTo>
                  <a:cubicBezTo>
                    <a:pt x="1558643" y="271970"/>
                    <a:pt x="1520573" y="310040"/>
                    <a:pt x="1473610" y="310040"/>
                  </a:cubicBezTo>
                  <a:lnTo>
                    <a:pt x="85033" y="310040"/>
                  </a:lnTo>
                  <a:cubicBezTo>
                    <a:pt x="62481" y="310040"/>
                    <a:pt x="40853" y="301082"/>
                    <a:pt x="24906" y="285135"/>
                  </a:cubicBezTo>
                  <a:cubicBezTo>
                    <a:pt x="8959" y="269188"/>
                    <a:pt x="0" y="247559"/>
                    <a:pt x="0" y="225007"/>
                  </a:cubicBezTo>
                  <a:lnTo>
                    <a:pt x="0" y="85033"/>
                  </a:lnTo>
                  <a:cubicBezTo>
                    <a:pt x="0" y="38071"/>
                    <a:pt x="38071" y="0"/>
                    <a:pt x="85033" y="0"/>
                  </a:cubicBezTo>
                  <a:close/>
                </a:path>
              </a:pathLst>
            </a:custGeom>
            <a:solidFill>
              <a:srgbClr val="E9C7C6"/>
            </a:solidFill>
          </p:spPr>
        </p:sp>
        <p:sp>
          <p:nvSpPr>
            <p:cNvPr name="TextBox 27" id="27"/>
            <p:cNvSpPr txBox="true"/>
            <p:nvPr/>
          </p:nvSpPr>
          <p:spPr>
            <a:xfrm>
              <a:off x="0" y="-57150"/>
              <a:ext cx="1558643" cy="367190"/>
            </a:xfrm>
            <a:prstGeom prst="rect">
              <a:avLst/>
            </a:prstGeom>
          </p:spPr>
          <p:txBody>
            <a:bodyPr anchor="ctr" rtlCol="false" tIns="50800" lIns="50800" bIns="50800" rIns="50800"/>
            <a:lstStyle/>
            <a:p>
              <a:pPr algn="ctr">
                <a:lnSpc>
                  <a:spcPts val="4199"/>
                </a:lnSpc>
              </a:pPr>
              <a:r>
                <a:rPr lang="en-US" sz="2999">
                  <a:solidFill>
                    <a:srgbClr val="000000"/>
                  </a:solidFill>
                  <a:latin typeface="Alatsi"/>
                  <a:ea typeface="Alatsi"/>
                  <a:cs typeface="Alatsi"/>
                  <a:sym typeface="Alatsi"/>
                </a:rPr>
                <a:t>Exploratory visual analysis</a:t>
              </a:r>
            </a:p>
            <a:p>
              <a:pPr algn="ctr">
                <a:lnSpc>
                  <a:spcPts val="2659"/>
                </a:lnSpc>
              </a:pPr>
            </a:p>
          </p:txBody>
        </p:sp>
      </p:grpSp>
      <p:sp>
        <p:nvSpPr>
          <p:cNvPr name="TextBox 28" id="28"/>
          <p:cNvSpPr txBox="true"/>
          <p:nvPr/>
        </p:nvSpPr>
        <p:spPr>
          <a:xfrm rot="0">
            <a:off x="11169765" y="5309413"/>
            <a:ext cx="4182217"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a:ea typeface="Alatsi"/>
                <a:cs typeface="Alatsi"/>
                <a:sym typeface="Alatsi"/>
              </a:rPr>
              <a:t>Fourth</a:t>
            </a:r>
          </a:p>
        </p:txBody>
      </p:sp>
      <p:grpSp>
        <p:nvGrpSpPr>
          <p:cNvPr name="Group 29" id="29"/>
          <p:cNvGrpSpPr/>
          <p:nvPr/>
        </p:nvGrpSpPr>
        <p:grpSpPr>
          <a:xfrm rot="0">
            <a:off x="10898922" y="5980246"/>
            <a:ext cx="5917974" cy="1177185"/>
            <a:chOff x="0" y="0"/>
            <a:chExt cx="1558643" cy="310040"/>
          </a:xfrm>
        </p:grpSpPr>
        <p:sp>
          <p:nvSpPr>
            <p:cNvPr name="Freeform 30" id="30"/>
            <p:cNvSpPr/>
            <p:nvPr/>
          </p:nvSpPr>
          <p:spPr>
            <a:xfrm flipH="false" flipV="false" rot="0">
              <a:off x="0" y="0"/>
              <a:ext cx="1558643" cy="310040"/>
            </a:xfrm>
            <a:custGeom>
              <a:avLst/>
              <a:gdLst/>
              <a:ahLst/>
              <a:cxnLst/>
              <a:rect r="r" b="b" t="t" l="l"/>
              <a:pathLst>
                <a:path h="310040" w="1558643">
                  <a:moveTo>
                    <a:pt x="85033" y="0"/>
                  </a:moveTo>
                  <a:lnTo>
                    <a:pt x="1473610" y="0"/>
                  </a:lnTo>
                  <a:cubicBezTo>
                    <a:pt x="1520573" y="0"/>
                    <a:pt x="1558643" y="38071"/>
                    <a:pt x="1558643" y="85033"/>
                  </a:cubicBezTo>
                  <a:lnTo>
                    <a:pt x="1558643" y="225007"/>
                  </a:lnTo>
                  <a:cubicBezTo>
                    <a:pt x="1558643" y="271970"/>
                    <a:pt x="1520573" y="310040"/>
                    <a:pt x="1473610" y="310040"/>
                  </a:cubicBezTo>
                  <a:lnTo>
                    <a:pt x="85033" y="310040"/>
                  </a:lnTo>
                  <a:cubicBezTo>
                    <a:pt x="62481" y="310040"/>
                    <a:pt x="40853" y="301082"/>
                    <a:pt x="24906" y="285135"/>
                  </a:cubicBezTo>
                  <a:cubicBezTo>
                    <a:pt x="8959" y="269188"/>
                    <a:pt x="0" y="247559"/>
                    <a:pt x="0" y="225007"/>
                  </a:cubicBezTo>
                  <a:lnTo>
                    <a:pt x="0" y="85033"/>
                  </a:lnTo>
                  <a:cubicBezTo>
                    <a:pt x="0" y="38071"/>
                    <a:pt x="38071" y="0"/>
                    <a:pt x="85033" y="0"/>
                  </a:cubicBezTo>
                  <a:close/>
                </a:path>
              </a:pathLst>
            </a:custGeom>
            <a:solidFill>
              <a:srgbClr val="E9C7C6"/>
            </a:solidFill>
          </p:spPr>
        </p:sp>
        <p:sp>
          <p:nvSpPr>
            <p:cNvPr name="TextBox 31" id="31"/>
            <p:cNvSpPr txBox="true"/>
            <p:nvPr/>
          </p:nvSpPr>
          <p:spPr>
            <a:xfrm>
              <a:off x="0" y="-57150"/>
              <a:ext cx="1558643" cy="367190"/>
            </a:xfrm>
            <a:prstGeom prst="rect">
              <a:avLst/>
            </a:prstGeom>
          </p:spPr>
          <p:txBody>
            <a:bodyPr anchor="ctr" rtlCol="false" tIns="50800" lIns="50800" bIns="50800" rIns="50800"/>
            <a:lstStyle/>
            <a:p>
              <a:pPr algn="ctr">
                <a:lnSpc>
                  <a:spcPts val="4199"/>
                </a:lnSpc>
              </a:pPr>
              <a:r>
                <a:rPr lang="en-US" sz="2999">
                  <a:solidFill>
                    <a:srgbClr val="000000"/>
                  </a:solidFill>
                  <a:latin typeface="Alatsi"/>
                  <a:ea typeface="Alatsi"/>
                  <a:cs typeface="Alatsi"/>
                  <a:sym typeface="Alatsi"/>
                </a:rPr>
                <a:t>Identify various pattern</a:t>
              </a:r>
            </a:p>
            <a:p>
              <a:pPr algn="ctr">
                <a:lnSpc>
                  <a:spcPts val="2659"/>
                </a:lnSpc>
              </a:pPr>
            </a:p>
          </p:txBody>
        </p:sp>
      </p:grpSp>
      <p:sp>
        <p:nvSpPr>
          <p:cNvPr name="AutoShape 32" id="32"/>
          <p:cNvSpPr/>
          <p:nvPr/>
        </p:nvSpPr>
        <p:spPr>
          <a:xfrm>
            <a:off x="-155988" y="9410700"/>
            <a:ext cx="7105264" cy="19050"/>
          </a:xfrm>
          <a:prstGeom prst="line">
            <a:avLst/>
          </a:prstGeom>
          <a:ln cap="flat" w="114300">
            <a:solidFill>
              <a:srgbClr val="9FC3D0"/>
            </a:solidFill>
            <a:prstDash val="solid"/>
            <a:headEnd type="none" len="sm" w="sm"/>
            <a:tailEnd type="none" len="sm" w="sm"/>
          </a:ln>
        </p:spPr>
      </p:sp>
      <p:sp>
        <p:nvSpPr>
          <p:cNvPr name="Freeform 33" id="33"/>
          <p:cNvSpPr/>
          <p:nvPr/>
        </p:nvSpPr>
        <p:spPr>
          <a:xfrm flipH="false" flipV="false" rot="0">
            <a:off x="8809860" y="8682785"/>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sp>
        <p:nvSpPr>
          <p:cNvPr name="AutoShape 34" id="34"/>
          <p:cNvSpPr/>
          <p:nvPr/>
        </p:nvSpPr>
        <p:spPr>
          <a:xfrm>
            <a:off x="11735250" y="9385117"/>
            <a:ext cx="7105264" cy="19050"/>
          </a:xfrm>
          <a:prstGeom prst="line">
            <a:avLst/>
          </a:prstGeom>
          <a:ln cap="flat" w="114300">
            <a:solidFill>
              <a:srgbClr val="9FC3D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716823" y="-148877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16567" y="59800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389279" y="583406"/>
            <a:ext cx="9285488" cy="2409782"/>
            <a:chOff x="0" y="0"/>
            <a:chExt cx="2445561" cy="634675"/>
          </a:xfrm>
        </p:grpSpPr>
        <p:sp>
          <p:nvSpPr>
            <p:cNvPr name="Freeform 5" id="5"/>
            <p:cNvSpPr/>
            <p:nvPr/>
          </p:nvSpPr>
          <p:spPr>
            <a:xfrm flipH="false" flipV="false" rot="0">
              <a:off x="0" y="0"/>
              <a:ext cx="2445561" cy="634675"/>
            </a:xfrm>
            <a:custGeom>
              <a:avLst/>
              <a:gdLst/>
              <a:ahLst/>
              <a:cxnLst/>
              <a:rect r="r" b="b" t="t" l="l"/>
              <a:pathLst>
                <a:path h="634675" w="2445561">
                  <a:moveTo>
                    <a:pt x="42522" y="0"/>
                  </a:moveTo>
                  <a:lnTo>
                    <a:pt x="2403039" y="0"/>
                  </a:lnTo>
                  <a:cubicBezTo>
                    <a:pt x="2426523" y="0"/>
                    <a:pt x="2445561" y="19038"/>
                    <a:pt x="2445561" y="42522"/>
                  </a:cubicBezTo>
                  <a:lnTo>
                    <a:pt x="2445561" y="592153"/>
                  </a:lnTo>
                  <a:cubicBezTo>
                    <a:pt x="2445561" y="615637"/>
                    <a:pt x="2426523" y="634675"/>
                    <a:pt x="2403039" y="634675"/>
                  </a:cubicBezTo>
                  <a:lnTo>
                    <a:pt x="42522" y="634675"/>
                  </a:lnTo>
                  <a:cubicBezTo>
                    <a:pt x="31244" y="634675"/>
                    <a:pt x="20429" y="630195"/>
                    <a:pt x="12454" y="622221"/>
                  </a:cubicBezTo>
                  <a:cubicBezTo>
                    <a:pt x="4480" y="614246"/>
                    <a:pt x="0" y="603431"/>
                    <a:pt x="0" y="592153"/>
                  </a:cubicBezTo>
                  <a:lnTo>
                    <a:pt x="0" y="42522"/>
                  </a:lnTo>
                  <a:cubicBezTo>
                    <a:pt x="0" y="19038"/>
                    <a:pt x="19038" y="0"/>
                    <a:pt x="42522" y="0"/>
                  </a:cubicBezTo>
                  <a:close/>
                </a:path>
              </a:pathLst>
            </a:custGeom>
            <a:solidFill>
              <a:srgbClr val="E9C7C6"/>
            </a:solidFill>
          </p:spPr>
        </p:sp>
        <p:sp>
          <p:nvSpPr>
            <p:cNvPr name="TextBox 6" id="6"/>
            <p:cNvSpPr txBox="true"/>
            <p:nvPr/>
          </p:nvSpPr>
          <p:spPr>
            <a:xfrm>
              <a:off x="0" y="-171450"/>
              <a:ext cx="2445561" cy="806125"/>
            </a:xfrm>
            <a:prstGeom prst="rect">
              <a:avLst/>
            </a:prstGeom>
          </p:spPr>
          <p:txBody>
            <a:bodyPr anchor="ctr" rtlCol="false" tIns="50800" lIns="50800" bIns="50800" rIns="50800"/>
            <a:lstStyle/>
            <a:p>
              <a:pPr algn="ctr">
                <a:lnSpc>
                  <a:spcPts val="12599"/>
                </a:lnSpc>
              </a:pPr>
              <a:r>
                <a:rPr lang="en-US" sz="8999">
                  <a:solidFill>
                    <a:srgbClr val="000000"/>
                  </a:solidFill>
                  <a:latin typeface="Alatsi"/>
                  <a:ea typeface="Alatsi"/>
                  <a:cs typeface="Alatsi"/>
                  <a:sym typeface="Alatsi"/>
                </a:rPr>
                <a:t>RELATIONSHIP</a:t>
              </a:r>
            </a:p>
          </p:txBody>
        </p:sp>
      </p:grpSp>
      <p:sp>
        <p:nvSpPr>
          <p:cNvPr name="Freeform 7" id="7"/>
          <p:cNvSpPr/>
          <p:nvPr/>
        </p:nvSpPr>
        <p:spPr>
          <a:xfrm flipH="false" flipV="false" rot="0">
            <a:off x="9817339" y="3205121"/>
            <a:ext cx="7756828" cy="4782915"/>
          </a:xfrm>
          <a:custGeom>
            <a:avLst/>
            <a:gdLst/>
            <a:ahLst/>
            <a:cxnLst/>
            <a:rect r="r" b="b" t="t" l="l"/>
            <a:pathLst>
              <a:path h="4782915" w="7756828">
                <a:moveTo>
                  <a:pt x="0" y="0"/>
                </a:moveTo>
                <a:lnTo>
                  <a:pt x="7756828" y="0"/>
                </a:lnTo>
                <a:lnTo>
                  <a:pt x="7756828" y="4782915"/>
                </a:lnTo>
                <a:lnTo>
                  <a:pt x="0" y="4782915"/>
                </a:lnTo>
                <a:lnTo>
                  <a:pt x="0" y="0"/>
                </a:lnTo>
                <a:close/>
              </a:path>
            </a:pathLst>
          </a:custGeom>
          <a:blipFill>
            <a:blip r:embed="rId4"/>
            <a:stretch>
              <a:fillRect l="-3854" t="-9611" r="-3854" b="0"/>
            </a:stretch>
          </a:blipFill>
        </p:spPr>
      </p:sp>
      <p:grpSp>
        <p:nvGrpSpPr>
          <p:cNvPr name="Group 8" id="8"/>
          <p:cNvGrpSpPr/>
          <p:nvPr/>
        </p:nvGrpSpPr>
        <p:grpSpPr>
          <a:xfrm rot="0">
            <a:off x="-31071" y="0"/>
            <a:ext cx="3061364" cy="10287000"/>
            <a:chOff x="0" y="0"/>
            <a:chExt cx="4081819" cy="13716000"/>
          </a:xfrm>
        </p:grpSpPr>
        <p:grpSp>
          <p:nvGrpSpPr>
            <p:cNvPr name="Group 9" id="9"/>
            <p:cNvGrpSpPr/>
            <p:nvPr/>
          </p:nvGrpSpPr>
          <p:grpSpPr>
            <a:xfrm rot="0">
              <a:off x="2040909" y="0"/>
              <a:ext cx="2040909" cy="13716000"/>
              <a:chOff x="0" y="0"/>
              <a:chExt cx="403143" cy="2709333"/>
            </a:xfrm>
          </p:grpSpPr>
          <p:sp>
            <p:nvSpPr>
              <p:cNvPr name="Freeform 10" id="10"/>
              <p:cNvSpPr/>
              <p:nvPr/>
            </p:nvSpPr>
            <p:spPr>
              <a:xfrm flipH="false" flipV="false" rot="0">
                <a:off x="0" y="0"/>
                <a:ext cx="403143" cy="2709333"/>
              </a:xfrm>
              <a:custGeom>
                <a:avLst/>
                <a:gdLst/>
                <a:ahLst/>
                <a:cxnLst/>
                <a:rect r="r" b="b" t="t" l="l"/>
                <a:pathLst>
                  <a:path h="2709333" w="403143">
                    <a:moveTo>
                      <a:pt x="0" y="0"/>
                    </a:moveTo>
                    <a:lnTo>
                      <a:pt x="403143" y="0"/>
                    </a:lnTo>
                    <a:lnTo>
                      <a:pt x="403143" y="2709333"/>
                    </a:lnTo>
                    <a:lnTo>
                      <a:pt x="0" y="2709333"/>
                    </a:lnTo>
                    <a:close/>
                  </a:path>
                </a:pathLst>
              </a:custGeom>
              <a:solidFill>
                <a:srgbClr val="E9E0D9"/>
              </a:solidFill>
            </p:spPr>
          </p:sp>
          <p:sp>
            <p:nvSpPr>
              <p:cNvPr name="TextBox 11" id="11"/>
              <p:cNvSpPr txBox="true"/>
              <p:nvPr/>
            </p:nvSpPr>
            <p:spPr>
              <a:xfrm>
                <a:off x="0" y="-47625"/>
                <a:ext cx="403143" cy="275695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0455" y="0"/>
              <a:ext cx="2040909" cy="13716000"/>
              <a:chOff x="0" y="0"/>
              <a:chExt cx="403143" cy="2709333"/>
            </a:xfrm>
          </p:grpSpPr>
          <p:sp>
            <p:nvSpPr>
              <p:cNvPr name="Freeform 13" id="13"/>
              <p:cNvSpPr/>
              <p:nvPr/>
            </p:nvSpPr>
            <p:spPr>
              <a:xfrm flipH="false" flipV="false" rot="0">
                <a:off x="0" y="0"/>
                <a:ext cx="403143" cy="2709333"/>
              </a:xfrm>
              <a:custGeom>
                <a:avLst/>
                <a:gdLst/>
                <a:ahLst/>
                <a:cxnLst/>
                <a:rect r="r" b="b" t="t" l="l"/>
                <a:pathLst>
                  <a:path h="2709333" w="403143">
                    <a:moveTo>
                      <a:pt x="0" y="0"/>
                    </a:moveTo>
                    <a:lnTo>
                      <a:pt x="403143" y="0"/>
                    </a:lnTo>
                    <a:lnTo>
                      <a:pt x="403143" y="2709333"/>
                    </a:lnTo>
                    <a:lnTo>
                      <a:pt x="0" y="2709333"/>
                    </a:lnTo>
                    <a:close/>
                  </a:path>
                </a:pathLst>
              </a:custGeom>
              <a:solidFill>
                <a:srgbClr val="9FC3D0">
                  <a:alpha val="12941"/>
                </a:srgbClr>
              </a:solidFill>
            </p:spPr>
          </p:sp>
          <p:sp>
            <p:nvSpPr>
              <p:cNvPr name="TextBox 14" id="14"/>
              <p:cNvSpPr txBox="true"/>
              <p:nvPr/>
            </p:nvSpPr>
            <p:spPr>
              <a:xfrm>
                <a:off x="0" y="-47625"/>
                <a:ext cx="403143" cy="275695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0" y="0"/>
              <a:ext cx="2040909" cy="13716000"/>
              <a:chOff x="0" y="0"/>
              <a:chExt cx="403143" cy="2709333"/>
            </a:xfrm>
          </p:grpSpPr>
          <p:sp>
            <p:nvSpPr>
              <p:cNvPr name="Freeform 16" id="16"/>
              <p:cNvSpPr/>
              <p:nvPr/>
            </p:nvSpPr>
            <p:spPr>
              <a:xfrm flipH="false" flipV="false" rot="0">
                <a:off x="0" y="0"/>
                <a:ext cx="403143" cy="2709333"/>
              </a:xfrm>
              <a:custGeom>
                <a:avLst/>
                <a:gdLst/>
                <a:ahLst/>
                <a:cxnLst/>
                <a:rect r="r" b="b" t="t" l="l"/>
                <a:pathLst>
                  <a:path h="2709333" w="403143">
                    <a:moveTo>
                      <a:pt x="0" y="0"/>
                    </a:moveTo>
                    <a:lnTo>
                      <a:pt x="403143" y="0"/>
                    </a:lnTo>
                    <a:lnTo>
                      <a:pt x="403143" y="2709333"/>
                    </a:lnTo>
                    <a:lnTo>
                      <a:pt x="0" y="2709333"/>
                    </a:lnTo>
                    <a:close/>
                  </a:path>
                </a:pathLst>
              </a:custGeom>
              <a:solidFill>
                <a:srgbClr val="E9C7C6"/>
              </a:solidFill>
            </p:spPr>
          </p:sp>
          <p:sp>
            <p:nvSpPr>
              <p:cNvPr name="TextBox 17" id="17"/>
              <p:cNvSpPr txBox="true"/>
              <p:nvPr/>
            </p:nvSpPr>
            <p:spPr>
              <a:xfrm>
                <a:off x="0" y="-47625"/>
                <a:ext cx="403143" cy="2756958"/>
              </a:xfrm>
              <a:prstGeom prst="rect">
                <a:avLst/>
              </a:prstGeom>
            </p:spPr>
            <p:txBody>
              <a:bodyPr anchor="ctr" rtlCol="false" tIns="50800" lIns="50800" bIns="50800" rIns="50800"/>
              <a:lstStyle/>
              <a:p>
                <a:pPr algn="ctr">
                  <a:lnSpc>
                    <a:spcPts val="2659"/>
                  </a:lnSpc>
                </a:pPr>
              </a:p>
            </p:txBody>
          </p:sp>
        </p:grpSp>
      </p:grpSp>
      <p:grpSp>
        <p:nvGrpSpPr>
          <p:cNvPr name="Group 18" id="18"/>
          <p:cNvGrpSpPr/>
          <p:nvPr/>
        </p:nvGrpSpPr>
        <p:grpSpPr>
          <a:xfrm rot="0">
            <a:off x="1236121" y="3449685"/>
            <a:ext cx="7795902" cy="5008120"/>
            <a:chOff x="0" y="0"/>
            <a:chExt cx="2053242" cy="1319011"/>
          </a:xfrm>
        </p:grpSpPr>
        <p:sp>
          <p:nvSpPr>
            <p:cNvPr name="Freeform 19" id="19"/>
            <p:cNvSpPr/>
            <p:nvPr/>
          </p:nvSpPr>
          <p:spPr>
            <a:xfrm flipH="false" flipV="false" rot="0">
              <a:off x="0" y="0"/>
              <a:ext cx="2053242" cy="1319011"/>
            </a:xfrm>
            <a:custGeom>
              <a:avLst/>
              <a:gdLst/>
              <a:ahLst/>
              <a:cxnLst/>
              <a:rect r="r" b="b" t="t" l="l"/>
              <a:pathLst>
                <a:path h="1319011" w="2053242">
                  <a:moveTo>
                    <a:pt x="37737" y="0"/>
                  </a:moveTo>
                  <a:lnTo>
                    <a:pt x="2015505" y="0"/>
                  </a:lnTo>
                  <a:cubicBezTo>
                    <a:pt x="2036346" y="0"/>
                    <a:pt x="2053242" y="16895"/>
                    <a:pt x="2053242" y="37737"/>
                  </a:cubicBezTo>
                  <a:lnTo>
                    <a:pt x="2053242" y="1281274"/>
                  </a:lnTo>
                  <a:cubicBezTo>
                    <a:pt x="2053242" y="1291283"/>
                    <a:pt x="2049266" y="1300881"/>
                    <a:pt x="2042189" y="1307958"/>
                  </a:cubicBezTo>
                  <a:cubicBezTo>
                    <a:pt x="2035112" y="1315035"/>
                    <a:pt x="2025513" y="1319011"/>
                    <a:pt x="2015505" y="1319011"/>
                  </a:cubicBezTo>
                  <a:lnTo>
                    <a:pt x="37737" y="1319011"/>
                  </a:lnTo>
                  <a:cubicBezTo>
                    <a:pt x="16895" y="1319011"/>
                    <a:pt x="0" y="1302116"/>
                    <a:pt x="0" y="1281274"/>
                  </a:cubicBezTo>
                  <a:lnTo>
                    <a:pt x="0" y="37737"/>
                  </a:lnTo>
                  <a:cubicBezTo>
                    <a:pt x="0" y="27728"/>
                    <a:pt x="3976" y="18130"/>
                    <a:pt x="11053" y="11053"/>
                  </a:cubicBezTo>
                  <a:cubicBezTo>
                    <a:pt x="18130" y="3976"/>
                    <a:pt x="27728" y="0"/>
                    <a:pt x="37737" y="0"/>
                  </a:cubicBezTo>
                  <a:close/>
                </a:path>
              </a:pathLst>
            </a:custGeom>
            <a:solidFill>
              <a:srgbClr val="FDB7B5"/>
            </a:solidFill>
          </p:spPr>
        </p:sp>
        <p:sp>
          <p:nvSpPr>
            <p:cNvPr name="TextBox 20" id="20"/>
            <p:cNvSpPr txBox="true"/>
            <p:nvPr/>
          </p:nvSpPr>
          <p:spPr>
            <a:xfrm>
              <a:off x="0" y="-66675"/>
              <a:ext cx="2053242" cy="1385686"/>
            </a:xfrm>
            <a:prstGeom prst="rect">
              <a:avLst/>
            </a:prstGeom>
          </p:spPr>
          <p:txBody>
            <a:bodyPr anchor="ctr" rtlCol="false" tIns="50800" lIns="50800" bIns="50800" rIns="50800"/>
            <a:lstStyle/>
            <a:p>
              <a:pPr algn="l">
                <a:lnSpc>
                  <a:spcPts val="3639"/>
                </a:lnSpc>
              </a:pPr>
              <a:r>
                <a:rPr lang="en-US" sz="2599" b="true">
                  <a:solidFill>
                    <a:srgbClr val="000000"/>
                  </a:solidFill>
                  <a:latin typeface="Abhaya Libre Bold"/>
                  <a:ea typeface="Abhaya Libre Bold"/>
                  <a:cs typeface="Abhaya Libre Bold"/>
                  <a:sym typeface="Abhaya Libre Bold"/>
                </a:rPr>
                <a:t>Imported tables: Trips, Trip_Details, Assembly, Duration, Payment</a:t>
              </a:r>
            </a:p>
            <a:p>
              <a:pPr algn="l" marL="604515" indent="-302257" lvl="1">
                <a:lnSpc>
                  <a:spcPts val="3919"/>
                </a:lnSpc>
                <a:buFont typeface="Arial"/>
                <a:buChar char="•"/>
              </a:pPr>
              <a:r>
                <a:rPr lang="en-US" b="true" sz="2799">
                  <a:solidFill>
                    <a:srgbClr val="000000"/>
                  </a:solidFill>
                  <a:latin typeface="Abhaya Libre Bold"/>
                  <a:ea typeface="Abhaya Libre Bold"/>
                  <a:cs typeface="Abhaya Libre Bold"/>
                  <a:sym typeface="Abhaya Libre Bold"/>
                </a:rPr>
                <a:t>Joins created:T</a:t>
              </a:r>
              <a:r>
                <a:rPr lang="en-US" b="true" sz="2799">
                  <a:solidFill>
                    <a:srgbClr val="000000"/>
                  </a:solidFill>
                  <a:latin typeface="Abhaya Libre Bold"/>
                  <a:ea typeface="Abhaya Libre Bold"/>
                  <a:cs typeface="Abhaya Libre Bold"/>
                  <a:sym typeface="Abhaya Libre Bold"/>
                </a:rPr>
                <a:t>ripID ↔ Trip_Details</a:t>
              </a:r>
            </a:p>
            <a:p>
              <a:pPr algn="l" marL="604515" indent="-302257" lvl="1">
                <a:lnSpc>
                  <a:spcPts val="3919"/>
                </a:lnSpc>
                <a:buFont typeface="Arial"/>
                <a:buChar char="•"/>
              </a:pPr>
              <a:r>
                <a:rPr lang="en-US" b="true" sz="2799">
                  <a:solidFill>
                    <a:srgbClr val="000000"/>
                  </a:solidFill>
                  <a:latin typeface="Abhaya Libre Bold"/>
                  <a:ea typeface="Abhaya Libre Bold"/>
                  <a:cs typeface="Abhaya Libre Bold"/>
                  <a:sym typeface="Abhaya Libre Bold"/>
                </a:rPr>
                <a:t>F</a:t>
              </a:r>
              <a:r>
                <a:rPr lang="en-US" b="true" sz="2799">
                  <a:solidFill>
                    <a:srgbClr val="000000"/>
                  </a:solidFill>
                  <a:latin typeface="Abhaya Libre Bold"/>
                  <a:ea typeface="Abhaya Libre Bold"/>
                  <a:cs typeface="Abhaya Libre Bold"/>
                  <a:sym typeface="Abhaya Libre Bold"/>
                </a:rPr>
                <a:t>areMethod ↔ Payment</a:t>
              </a:r>
            </a:p>
            <a:p>
              <a:pPr algn="l" marL="604515" indent="-302257" lvl="1">
                <a:lnSpc>
                  <a:spcPts val="3919"/>
                </a:lnSpc>
                <a:buFont typeface="Arial"/>
                <a:buChar char="•"/>
              </a:pPr>
              <a:r>
                <a:rPr lang="en-US" b="true" sz="2799">
                  <a:solidFill>
                    <a:srgbClr val="000000"/>
                  </a:solidFill>
                  <a:latin typeface="Abhaya Libre Bold"/>
                  <a:ea typeface="Abhaya Libre Bold"/>
                  <a:cs typeface="Abhaya Libre Bold"/>
                  <a:sym typeface="Abhaya Libre Bold"/>
                </a:rPr>
                <a:t>Loc_to ↔ Assembly</a:t>
              </a:r>
            </a:p>
            <a:p>
              <a:pPr algn="l" marL="604515" indent="-302257" lvl="1">
                <a:lnSpc>
                  <a:spcPts val="3919"/>
                </a:lnSpc>
                <a:buFont typeface="Arial"/>
                <a:buChar char="•"/>
              </a:pPr>
              <a:r>
                <a:rPr lang="en-US" b="true" sz="2799">
                  <a:solidFill>
                    <a:srgbClr val="000000"/>
                  </a:solidFill>
                  <a:latin typeface="Abhaya Libre Bold"/>
                  <a:ea typeface="Abhaya Libre Bold"/>
                  <a:cs typeface="Abhaya Libre Bold"/>
                  <a:sym typeface="Abhaya Libre Bold"/>
                </a:rPr>
                <a:t>D</a:t>
              </a:r>
              <a:r>
                <a:rPr lang="en-US" b="true" sz="2799">
                  <a:solidFill>
                    <a:srgbClr val="000000"/>
                  </a:solidFill>
                  <a:latin typeface="Abhaya Libre Bold"/>
                  <a:ea typeface="Abhaya Libre Bold"/>
                  <a:cs typeface="Abhaya Libre Bold"/>
                  <a:sym typeface="Abhaya Libre Bold"/>
                </a:rPr>
                <a:t>urationID ↔ Duration</a:t>
              </a:r>
            </a:p>
            <a:p>
              <a:pPr algn="l" marL="626104" indent="-313052" lvl="1">
                <a:lnSpc>
                  <a:spcPts val="4059"/>
                </a:lnSpc>
                <a:buFont typeface="Arial"/>
                <a:buChar char="•"/>
              </a:pPr>
              <a:r>
                <a:rPr lang="en-US" b="true" sz="2899">
                  <a:solidFill>
                    <a:srgbClr val="000000"/>
                  </a:solidFill>
                  <a:latin typeface="Abhaya Libre Bold"/>
                  <a:ea typeface="Abhaya Libre Bold"/>
                  <a:cs typeface="Abhaya Libre Bold"/>
                  <a:sym typeface="Abhaya Libre Bold"/>
                </a:rPr>
                <a:t>E</a:t>
              </a:r>
              <a:r>
                <a:rPr lang="en-US" b="true" sz="2899">
                  <a:solidFill>
                    <a:srgbClr val="000000"/>
                  </a:solidFill>
                  <a:latin typeface="Abhaya Libre Bold"/>
                  <a:ea typeface="Abhaya Libre Bold"/>
                  <a:cs typeface="Abhaya Libre Bold"/>
                  <a:sym typeface="Abhaya Libre Bold"/>
                </a:rPr>
                <a:t>nsured unified dataset for analysis</a:t>
              </a:r>
            </a:p>
            <a:p>
              <a:pPr algn="ctr">
                <a:lnSpc>
                  <a:spcPts val="2659"/>
                </a:lnSpc>
              </a:pPr>
            </a:p>
          </p:txBody>
        </p:sp>
      </p:grpSp>
      <p:sp>
        <p:nvSpPr>
          <p:cNvPr name="AutoShape 21" id="21"/>
          <p:cNvSpPr/>
          <p:nvPr/>
        </p:nvSpPr>
        <p:spPr>
          <a:xfrm>
            <a:off x="11582709" y="9223192"/>
            <a:ext cx="7105264" cy="19050"/>
          </a:xfrm>
          <a:prstGeom prst="line">
            <a:avLst/>
          </a:prstGeom>
          <a:ln cap="flat" w="114300">
            <a:solidFill>
              <a:srgbClr val="9FC3D0"/>
            </a:solidFill>
            <a:prstDash val="solid"/>
            <a:headEnd type="none" len="sm" w="sm"/>
            <a:tailEnd type="none" len="sm" w="sm"/>
          </a:ln>
        </p:spPr>
      </p:sp>
      <p:sp>
        <p:nvSpPr>
          <p:cNvPr name="AutoShape 22" id="22"/>
          <p:cNvSpPr/>
          <p:nvPr/>
        </p:nvSpPr>
        <p:spPr>
          <a:xfrm>
            <a:off x="-308529" y="9248775"/>
            <a:ext cx="7105264" cy="19050"/>
          </a:xfrm>
          <a:prstGeom prst="line">
            <a:avLst/>
          </a:prstGeom>
          <a:ln cap="flat" w="114300">
            <a:solidFill>
              <a:srgbClr val="9FC3D0"/>
            </a:solidFill>
            <a:prstDash val="solid"/>
            <a:headEnd type="none" len="sm" w="sm"/>
            <a:tailEnd type="none" len="sm" w="sm"/>
          </a:ln>
        </p:spPr>
      </p:sp>
      <p:sp>
        <p:nvSpPr>
          <p:cNvPr name="Freeform 23" id="23"/>
          <p:cNvSpPr/>
          <p:nvPr/>
        </p:nvSpPr>
        <p:spPr>
          <a:xfrm flipH="false" flipV="false" rot="0">
            <a:off x="8657460" y="8530385"/>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5"/>
            <a:stretch>
              <a:fillRect l="0" t="0" r="0" b="0"/>
            </a:stretch>
          </a:blipFill>
        </p:spPr>
      </p:sp>
      <p:grpSp>
        <p:nvGrpSpPr>
          <p:cNvPr name="Group 24" id="24"/>
          <p:cNvGrpSpPr/>
          <p:nvPr/>
        </p:nvGrpSpPr>
        <p:grpSpPr>
          <a:xfrm rot="0">
            <a:off x="15859155" y="0"/>
            <a:ext cx="1562612" cy="1673225"/>
            <a:chOff x="0" y="0"/>
            <a:chExt cx="2083482" cy="2230967"/>
          </a:xfrm>
        </p:grpSpPr>
        <p:grpSp>
          <p:nvGrpSpPr>
            <p:cNvPr name="Group 25" id="25"/>
            <p:cNvGrpSpPr/>
            <p:nvPr/>
          </p:nvGrpSpPr>
          <p:grpSpPr>
            <a:xfrm rot="0">
              <a:off x="75599" y="0"/>
              <a:ext cx="1932284" cy="2230967"/>
              <a:chOff x="0" y="0"/>
              <a:chExt cx="703982" cy="812800"/>
            </a:xfrm>
          </p:grpSpPr>
          <p:sp>
            <p:nvSpPr>
              <p:cNvPr name="Freeform 26" id="2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7" id="2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5</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175459"/>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DATA CLEANING</a:t>
            </a:r>
          </a:p>
        </p:txBody>
      </p:sp>
      <p:grpSp>
        <p:nvGrpSpPr>
          <p:cNvPr name="Group 3" id="3"/>
          <p:cNvGrpSpPr/>
          <p:nvPr/>
        </p:nvGrpSpPr>
        <p:grpSpPr>
          <a:xfrm rot="0">
            <a:off x="525459" y="2075504"/>
            <a:ext cx="7362681" cy="4421131"/>
            <a:chOff x="0" y="0"/>
            <a:chExt cx="1939142" cy="1164413"/>
          </a:xfrm>
        </p:grpSpPr>
        <p:sp>
          <p:nvSpPr>
            <p:cNvPr name="Freeform 4" id="4"/>
            <p:cNvSpPr/>
            <p:nvPr/>
          </p:nvSpPr>
          <p:spPr>
            <a:xfrm flipH="false" flipV="false" rot="0">
              <a:off x="0" y="0"/>
              <a:ext cx="1939142" cy="1164413"/>
            </a:xfrm>
            <a:custGeom>
              <a:avLst/>
              <a:gdLst/>
              <a:ahLst/>
              <a:cxnLst/>
              <a:rect r="r" b="b" t="t" l="l"/>
              <a:pathLst>
                <a:path h="1164413" w="1939142">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5" id="5"/>
            <p:cNvSpPr txBox="true"/>
            <p:nvPr/>
          </p:nvSpPr>
          <p:spPr>
            <a:xfrm>
              <a:off x="0" y="-38100"/>
              <a:ext cx="1939142" cy="120251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417488" y="614217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9534597" y="3102810"/>
            <a:ext cx="7362681" cy="4421131"/>
            <a:chOff x="0" y="0"/>
            <a:chExt cx="1939142" cy="1164413"/>
          </a:xfrm>
        </p:grpSpPr>
        <p:sp>
          <p:nvSpPr>
            <p:cNvPr name="Freeform 8" id="8"/>
            <p:cNvSpPr/>
            <p:nvPr/>
          </p:nvSpPr>
          <p:spPr>
            <a:xfrm flipH="false" flipV="false" rot="0">
              <a:off x="0" y="0"/>
              <a:ext cx="1939142" cy="1164413"/>
            </a:xfrm>
            <a:custGeom>
              <a:avLst/>
              <a:gdLst/>
              <a:ahLst/>
              <a:cxnLst/>
              <a:rect r="r" b="b" t="t" l="l"/>
              <a:pathLst>
                <a:path h="1164413" w="1939142">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9" id="9"/>
            <p:cNvSpPr txBox="true"/>
            <p:nvPr/>
          </p:nvSpPr>
          <p:spPr>
            <a:xfrm>
              <a:off x="0" y="-38100"/>
              <a:ext cx="1939142" cy="120251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2161794"/>
            <a:ext cx="516960" cy="51696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944736" y="3615357"/>
            <a:ext cx="516960" cy="51696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16" id="16"/>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17" id="17"/>
          <p:cNvGrpSpPr/>
          <p:nvPr/>
        </p:nvGrpSpPr>
        <p:grpSpPr>
          <a:xfrm rot="0">
            <a:off x="15859155" y="0"/>
            <a:ext cx="1562612" cy="1673225"/>
            <a:chOff x="0" y="0"/>
            <a:chExt cx="2083482" cy="2230967"/>
          </a:xfrm>
        </p:grpSpPr>
        <p:grpSp>
          <p:nvGrpSpPr>
            <p:cNvPr name="Group 18" id="18"/>
            <p:cNvGrpSpPr/>
            <p:nvPr/>
          </p:nvGrpSpPr>
          <p:grpSpPr>
            <a:xfrm rot="0">
              <a:off x="75599" y="0"/>
              <a:ext cx="1932284" cy="2230967"/>
              <a:chOff x="0" y="0"/>
              <a:chExt cx="703982" cy="812800"/>
            </a:xfrm>
          </p:grpSpPr>
          <p:sp>
            <p:nvSpPr>
              <p:cNvPr name="Freeform 19" id="1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0" id="2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6</a:t>
              </a:r>
            </a:p>
          </p:txBody>
        </p:sp>
      </p:grpSp>
      <p:sp>
        <p:nvSpPr>
          <p:cNvPr name="Freeform 22" id="22"/>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8222605" y="8352402"/>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sp>
        <p:nvSpPr>
          <p:cNvPr name="TextBox 24" id="24"/>
          <p:cNvSpPr txBox="true"/>
          <p:nvPr/>
        </p:nvSpPr>
        <p:spPr>
          <a:xfrm rot="0">
            <a:off x="1287180" y="3155004"/>
            <a:ext cx="5466865" cy="3545004"/>
          </a:xfrm>
          <a:prstGeom prst="rect">
            <a:avLst/>
          </a:prstGeom>
        </p:spPr>
        <p:txBody>
          <a:bodyPr anchor="t" rtlCol="false" tIns="0" lIns="0" bIns="0" rIns="0">
            <a:spAutoFit/>
          </a:bodyPr>
          <a:lstStyle/>
          <a:p>
            <a:pPr algn="l">
              <a:lnSpc>
                <a:spcPts val="4158"/>
              </a:lnSpc>
            </a:pPr>
          </a:p>
          <a:p>
            <a:pPr algn="l">
              <a:lnSpc>
                <a:spcPts val="3969"/>
              </a:lnSpc>
            </a:pPr>
            <a:r>
              <a:rPr lang="en-US" sz="2835" b="true">
                <a:solidFill>
                  <a:srgbClr val="000000"/>
                </a:solidFill>
                <a:latin typeface="Arimo Bold"/>
                <a:ea typeface="Arimo Bold"/>
                <a:cs typeface="Arimo Bold"/>
                <a:sym typeface="Arimo Bold"/>
              </a:rPr>
              <a:t>•Converted binary flags (e.g., end_ride, driver_not_cancelled) into calculated fields</a:t>
            </a:r>
          </a:p>
          <a:p>
            <a:pPr algn="l">
              <a:lnSpc>
                <a:spcPts val="4158"/>
              </a:lnSpc>
            </a:pPr>
          </a:p>
          <a:p>
            <a:pPr algn="l">
              <a:lnSpc>
                <a:spcPts val="4054"/>
              </a:lnSpc>
            </a:pPr>
          </a:p>
          <a:p>
            <a:pPr algn="l">
              <a:lnSpc>
                <a:spcPts val="4054"/>
              </a:lnSpc>
            </a:pPr>
          </a:p>
        </p:txBody>
      </p:sp>
      <p:sp>
        <p:nvSpPr>
          <p:cNvPr name="TextBox 25" id="25"/>
          <p:cNvSpPr txBox="true"/>
          <p:nvPr/>
        </p:nvSpPr>
        <p:spPr>
          <a:xfrm rot="0">
            <a:off x="1739665" y="1999304"/>
            <a:ext cx="5512618" cy="1384300"/>
          </a:xfrm>
          <a:prstGeom prst="rect">
            <a:avLst/>
          </a:prstGeom>
        </p:spPr>
        <p:txBody>
          <a:bodyPr anchor="t" rtlCol="false" tIns="0" lIns="0" bIns="0" rIns="0">
            <a:spAutoFit/>
          </a:bodyPr>
          <a:lstStyle/>
          <a:p>
            <a:pPr algn="l">
              <a:lnSpc>
                <a:spcPts val="5599"/>
              </a:lnSpc>
            </a:pPr>
            <a:r>
              <a:rPr lang="en-US" sz="3999" u="sng">
                <a:solidFill>
                  <a:srgbClr val="000000"/>
                </a:solidFill>
                <a:latin typeface="Alatsi"/>
                <a:ea typeface="Alatsi"/>
                <a:cs typeface="Alatsi"/>
                <a:sym typeface="Alatsi"/>
              </a:rPr>
              <a:t>Removed duplicates and irrelevant entries</a:t>
            </a:r>
          </a:p>
        </p:txBody>
      </p:sp>
      <p:sp>
        <p:nvSpPr>
          <p:cNvPr name="TextBox 26" id="26"/>
          <p:cNvSpPr txBox="true"/>
          <p:nvPr/>
        </p:nvSpPr>
        <p:spPr>
          <a:xfrm rot="0">
            <a:off x="10639349" y="3496012"/>
            <a:ext cx="3878232" cy="1384300"/>
          </a:xfrm>
          <a:prstGeom prst="rect">
            <a:avLst/>
          </a:prstGeom>
        </p:spPr>
        <p:txBody>
          <a:bodyPr anchor="t" rtlCol="false" tIns="0" lIns="0" bIns="0" rIns="0">
            <a:spAutoFit/>
          </a:bodyPr>
          <a:lstStyle/>
          <a:p>
            <a:pPr algn="l">
              <a:lnSpc>
                <a:spcPts val="5599"/>
              </a:lnSpc>
            </a:pPr>
            <a:r>
              <a:rPr lang="en-US" sz="3999" u="sng">
                <a:solidFill>
                  <a:srgbClr val="000000"/>
                </a:solidFill>
                <a:latin typeface="Alatsi"/>
                <a:ea typeface="Alatsi"/>
                <a:cs typeface="Alatsi"/>
                <a:sym typeface="Alatsi"/>
              </a:rPr>
              <a:t>Calculative measure</a:t>
            </a:r>
          </a:p>
        </p:txBody>
      </p:sp>
      <p:sp>
        <p:nvSpPr>
          <p:cNvPr name="TextBox 27" id="27"/>
          <p:cNvSpPr txBox="true"/>
          <p:nvPr/>
        </p:nvSpPr>
        <p:spPr>
          <a:xfrm rot="0">
            <a:off x="10643490" y="4336134"/>
            <a:ext cx="5538702" cy="4725133"/>
          </a:xfrm>
          <a:prstGeom prst="rect">
            <a:avLst/>
          </a:prstGeom>
        </p:spPr>
        <p:txBody>
          <a:bodyPr anchor="t" rtlCol="false" tIns="0" lIns="0" bIns="0" rIns="0">
            <a:spAutoFit/>
          </a:bodyPr>
          <a:lstStyle/>
          <a:p>
            <a:pPr algn="l">
              <a:lnSpc>
                <a:spcPts val="4212"/>
              </a:lnSpc>
            </a:pPr>
          </a:p>
          <a:p>
            <a:pPr algn="l">
              <a:lnSpc>
                <a:spcPts val="4212"/>
              </a:lnSpc>
            </a:pPr>
            <a:r>
              <a:rPr lang="en-US" sz="3009">
                <a:solidFill>
                  <a:srgbClr val="000000"/>
                </a:solidFill>
                <a:latin typeface="Alatsi"/>
                <a:ea typeface="Alatsi"/>
                <a:cs typeface="Alatsi"/>
                <a:sym typeface="Alatsi"/>
              </a:rPr>
              <a:t>•Created metrics:</a:t>
            </a:r>
          </a:p>
          <a:p>
            <a:pPr algn="l">
              <a:lnSpc>
                <a:spcPts val="4212"/>
              </a:lnSpc>
            </a:pPr>
            <a:r>
              <a:rPr lang="en-US" sz="3009">
                <a:solidFill>
                  <a:srgbClr val="000000"/>
                </a:solidFill>
                <a:latin typeface="Alatsi"/>
                <a:ea typeface="Alatsi"/>
                <a:cs typeface="Alatsi"/>
                <a:sym typeface="Alatsi"/>
              </a:rPr>
              <a:t>•Successful Ride %</a:t>
            </a:r>
          </a:p>
          <a:p>
            <a:pPr algn="l">
              <a:lnSpc>
                <a:spcPts val="4212"/>
              </a:lnSpc>
            </a:pPr>
            <a:r>
              <a:rPr lang="en-US" sz="3009">
                <a:solidFill>
                  <a:srgbClr val="000000"/>
                </a:solidFill>
                <a:latin typeface="Alatsi"/>
                <a:ea typeface="Alatsi"/>
                <a:cs typeface="Alatsi"/>
                <a:sym typeface="Alatsi"/>
              </a:rPr>
              <a:t>•Driver Cancellation %</a:t>
            </a:r>
          </a:p>
          <a:p>
            <a:pPr algn="l">
              <a:lnSpc>
                <a:spcPts val="4212"/>
              </a:lnSpc>
            </a:pPr>
            <a:r>
              <a:rPr lang="en-US" sz="3009">
                <a:solidFill>
                  <a:srgbClr val="000000"/>
                </a:solidFill>
                <a:latin typeface="Alatsi"/>
                <a:ea typeface="Alatsi"/>
                <a:cs typeface="Alatsi"/>
                <a:sym typeface="Alatsi"/>
              </a:rPr>
              <a:t>•Customer Cancellation %</a:t>
            </a:r>
          </a:p>
          <a:p>
            <a:pPr algn="l">
              <a:lnSpc>
                <a:spcPts val="4212"/>
              </a:lnSpc>
            </a:pPr>
            <a:r>
              <a:rPr lang="en-US" sz="3009">
                <a:solidFill>
                  <a:srgbClr val="000000"/>
                </a:solidFill>
                <a:latin typeface="Alatsi"/>
                <a:ea typeface="Alatsi"/>
                <a:cs typeface="Alatsi"/>
                <a:sym typeface="Alatsi"/>
              </a:rPr>
              <a:t>•Completed After Quotes %</a:t>
            </a:r>
          </a:p>
          <a:p>
            <a:pPr algn="l">
              <a:lnSpc>
                <a:spcPts val="4212"/>
              </a:lnSpc>
            </a:pPr>
          </a:p>
          <a:p>
            <a:pPr algn="l">
              <a:lnSpc>
                <a:spcPts val="4107"/>
              </a:lnSpc>
            </a:pPr>
          </a:p>
          <a:p>
            <a:pPr algn="l">
              <a:lnSpc>
                <a:spcPts val="4107"/>
              </a:lnSpc>
            </a:pPr>
          </a:p>
        </p:txBody>
      </p:sp>
      <p:sp>
        <p:nvSpPr>
          <p:cNvPr name="AutoShape 28" id="28"/>
          <p:cNvSpPr/>
          <p:nvPr/>
        </p:nvSpPr>
        <p:spPr>
          <a:xfrm>
            <a:off x="-108199" y="9213667"/>
            <a:ext cx="7105264" cy="19050"/>
          </a:xfrm>
          <a:prstGeom prst="line">
            <a:avLst/>
          </a:prstGeom>
          <a:ln cap="flat" w="114300">
            <a:solidFill>
              <a:srgbClr val="9FC3D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7</a:t>
              </a:r>
            </a:p>
          </p:txBody>
        </p:sp>
      </p:grpSp>
      <p:sp>
        <p:nvSpPr>
          <p:cNvPr name="TextBox 9" id="9"/>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EDA – DEMAND OVER TIME</a:t>
            </a:r>
          </a:p>
        </p:txBody>
      </p:sp>
      <p:sp>
        <p:nvSpPr>
          <p:cNvPr name="Freeform 10" id="10"/>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907" y="9161"/>
            <a:ext cx="4912844" cy="1664064"/>
          </a:xfrm>
          <a:custGeom>
            <a:avLst/>
            <a:gdLst/>
            <a:ahLst/>
            <a:cxnLst/>
            <a:rect r="r" b="b" t="t" l="l"/>
            <a:pathLst>
              <a:path h="1664064" w="4912844">
                <a:moveTo>
                  <a:pt x="0" y="0"/>
                </a:moveTo>
                <a:lnTo>
                  <a:pt x="4912844" y="0"/>
                </a:lnTo>
                <a:lnTo>
                  <a:pt x="4912844" y="1664064"/>
                </a:lnTo>
                <a:lnTo>
                  <a:pt x="0" y="1664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31900" y="3765434"/>
            <a:ext cx="9012100" cy="3402068"/>
          </a:xfrm>
          <a:custGeom>
            <a:avLst/>
            <a:gdLst/>
            <a:ahLst/>
            <a:cxnLst/>
            <a:rect r="r" b="b" t="t" l="l"/>
            <a:pathLst>
              <a:path h="3402068" w="9012100">
                <a:moveTo>
                  <a:pt x="0" y="0"/>
                </a:moveTo>
                <a:lnTo>
                  <a:pt x="9012100" y="0"/>
                </a:lnTo>
                <a:lnTo>
                  <a:pt x="9012100" y="3402068"/>
                </a:lnTo>
                <a:lnTo>
                  <a:pt x="0" y="3402068"/>
                </a:lnTo>
                <a:lnTo>
                  <a:pt x="0" y="0"/>
                </a:lnTo>
                <a:close/>
              </a:path>
            </a:pathLst>
          </a:custGeom>
          <a:blipFill>
            <a:blip r:embed="rId4"/>
            <a:stretch>
              <a:fillRect l="0" t="0" r="0" b="0"/>
            </a:stretch>
          </a:blipFill>
        </p:spPr>
      </p:sp>
      <p:sp>
        <p:nvSpPr>
          <p:cNvPr name="Freeform 13" id="13"/>
          <p:cNvSpPr/>
          <p:nvPr/>
        </p:nvSpPr>
        <p:spPr>
          <a:xfrm flipH="false" flipV="false" rot="0">
            <a:off x="8229188" y="8333352"/>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5"/>
            <a:stretch>
              <a:fillRect l="0" t="0" r="0" b="0"/>
            </a:stretch>
          </a:blipFill>
        </p:spPr>
      </p:sp>
      <p:sp>
        <p:nvSpPr>
          <p:cNvPr name="TextBox 14" id="14"/>
          <p:cNvSpPr txBox="true"/>
          <p:nvPr/>
        </p:nvSpPr>
        <p:spPr>
          <a:xfrm rot="0">
            <a:off x="9897670" y="3339794"/>
            <a:ext cx="8117819" cy="4428920"/>
          </a:xfrm>
          <a:prstGeom prst="rect">
            <a:avLst/>
          </a:prstGeom>
        </p:spPr>
        <p:txBody>
          <a:bodyPr anchor="t" rtlCol="false" tIns="0" lIns="0" bIns="0" rIns="0">
            <a:spAutoFit/>
          </a:bodyPr>
          <a:lstStyle/>
          <a:p>
            <a:pPr algn="l" marL="678793" indent="-339397" lvl="1">
              <a:lnSpc>
                <a:spcPts val="4401"/>
              </a:lnSpc>
              <a:buFont typeface="Arial"/>
              <a:buChar char="•"/>
            </a:pPr>
            <a:r>
              <a:rPr lang="en-US" sz="3144">
                <a:solidFill>
                  <a:srgbClr val="000000"/>
                </a:solidFill>
                <a:latin typeface="Alatsi"/>
                <a:ea typeface="Alatsi"/>
                <a:cs typeface="Alatsi"/>
                <a:sym typeface="Alatsi"/>
              </a:rPr>
              <a:t>Guarantee 100% gateway stability at 0-1.</a:t>
            </a:r>
          </a:p>
          <a:p>
            <a:pPr algn="l" marL="678793" indent="-339397" lvl="1">
              <a:lnSpc>
                <a:spcPts val="4401"/>
              </a:lnSpc>
              <a:buFont typeface="Arial"/>
              <a:buChar char="•"/>
            </a:pPr>
            <a:r>
              <a:rPr lang="en-US" sz="3144">
                <a:solidFill>
                  <a:srgbClr val="000000"/>
                </a:solidFill>
                <a:latin typeface="Alatsi"/>
                <a:ea typeface="Alatsi"/>
                <a:cs typeface="Alatsi"/>
                <a:sym typeface="Alatsi"/>
              </a:rPr>
              <a:t>Engineer infrastructure for 24/7 continuous resilience.</a:t>
            </a:r>
          </a:p>
          <a:p>
            <a:pPr algn="l" marL="678793" indent="-339397" lvl="1">
              <a:lnSpc>
                <a:spcPts val="4401"/>
              </a:lnSpc>
              <a:buFont typeface="Arial"/>
              <a:buChar char="•"/>
            </a:pPr>
            <a:r>
              <a:rPr lang="en-US" sz="3144">
                <a:solidFill>
                  <a:srgbClr val="000000"/>
                </a:solidFill>
                <a:latin typeface="Alatsi"/>
                <a:ea typeface="Alatsi"/>
                <a:cs typeface="Alatsi"/>
                <a:sym typeface="Alatsi"/>
              </a:rPr>
              <a:t>Implement intelligent routing to boost global PSR.</a:t>
            </a:r>
          </a:p>
          <a:p>
            <a:pPr algn="l" marL="678793" indent="-339397" lvl="1">
              <a:lnSpc>
                <a:spcPts val="4401"/>
              </a:lnSpc>
              <a:buFont typeface="Arial"/>
              <a:buChar char="•"/>
            </a:pPr>
            <a:r>
              <a:rPr lang="en-US" sz="3144">
                <a:solidFill>
                  <a:srgbClr val="000000"/>
                </a:solidFill>
                <a:latin typeface="Alatsi"/>
                <a:ea typeface="Alatsi"/>
                <a:cs typeface="Alatsi"/>
                <a:sym typeface="Alatsi"/>
              </a:rPr>
              <a:t>Forecast micro-demand to align server capacity.</a:t>
            </a:r>
          </a:p>
          <a:p>
            <a:pPr algn="l">
              <a:lnSpc>
                <a:spcPts val="440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8</a:t>
              </a:r>
            </a:p>
          </p:txBody>
        </p:sp>
      </p:grpSp>
      <p:sp>
        <p:nvSpPr>
          <p:cNvPr name="Freeform 10" id="10"/>
          <p:cNvSpPr/>
          <p:nvPr/>
        </p:nvSpPr>
        <p:spPr>
          <a:xfrm flipH="false" flipV="false" rot="0">
            <a:off x="1263762" y="-14586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18766" y="3768958"/>
            <a:ext cx="8681261" cy="4122490"/>
          </a:xfrm>
          <a:custGeom>
            <a:avLst/>
            <a:gdLst/>
            <a:ahLst/>
            <a:cxnLst/>
            <a:rect r="r" b="b" t="t" l="l"/>
            <a:pathLst>
              <a:path h="4122490" w="8681261">
                <a:moveTo>
                  <a:pt x="0" y="0"/>
                </a:moveTo>
                <a:lnTo>
                  <a:pt x="8681260" y="0"/>
                </a:lnTo>
                <a:lnTo>
                  <a:pt x="8681260" y="4122490"/>
                </a:lnTo>
                <a:lnTo>
                  <a:pt x="0" y="4122490"/>
                </a:lnTo>
                <a:lnTo>
                  <a:pt x="0" y="0"/>
                </a:lnTo>
                <a:close/>
              </a:path>
            </a:pathLst>
          </a:custGeom>
          <a:blipFill>
            <a:blip r:embed="rId4"/>
            <a:stretch>
              <a:fillRect l="-1241" t="-1431" r="-1241" b="0"/>
            </a:stretch>
          </a:blipFill>
        </p:spPr>
      </p:sp>
      <p:sp>
        <p:nvSpPr>
          <p:cNvPr name="AutoShape 13" id="13"/>
          <p:cNvSpPr/>
          <p:nvPr/>
        </p:nvSpPr>
        <p:spPr>
          <a:xfrm>
            <a:off x="11735250" y="9385117"/>
            <a:ext cx="7105264" cy="19050"/>
          </a:xfrm>
          <a:prstGeom prst="line">
            <a:avLst/>
          </a:prstGeom>
          <a:ln cap="flat" w="114300">
            <a:solidFill>
              <a:srgbClr val="9FC3D0"/>
            </a:solidFill>
            <a:prstDash val="solid"/>
            <a:headEnd type="none" len="sm" w="sm"/>
            <a:tailEnd type="none" len="sm" w="sm"/>
          </a:ln>
        </p:spPr>
      </p:sp>
      <p:sp>
        <p:nvSpPr>
          <p:cNvPr name="AutoShape 14" id="14"/>
          <p:cNvSpPr/>
          <p:nvPr/>
        </p:nvSpPr>
        <p:spPr>
          <a:xfrm>
            <a:off x="44482" y="9385117"/>
            <a:ext cx="7105264" cy="19050"/>
          </a:xfrm>
          <a:prstGeom prst="line">
            <a:avLst/>
          </a:prstGeom>
          <a:ln cap="flat" w="114300">
            <a:solidFill>
              <a:srgbClr val="9FC3D0"/>
            </a:solidFill>
            <a:prstDash val="solid"/>
            <a:headEnd type="none" len="sm" w="sm"/>
            <a:tailEnd type="none" len="sm" w="sm"/>
          </a:ln>
        </p:spPr>
      </p:sp>
      <p:sp>
        <p:nvSpPr>
          <p:cNvPr name="Freeform 15" id="15"/>
          <p:cNvSpPr/>
          <p:nvPr/>
        </p:nvSpPr>
        <p:spPr>
          <a:xfrm flipH="false" flipV="false" rot="0">
            <a:off x="8527686" y="8657202"/>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5"/>
            <a:stretch>
              <a:fillRect l="0" t="0" r="0" b="0"/>
            </a:stretch>
          </a:blipFill>
        </p:spPr>
      </p:sp>
      <p:sp>
        <p:nvSpPr>
          <p:cNvPr name="TextBox 16" id="16"/>
          <p:cNvSpPr txBox="true"/>
          <p:nvPr/>
        </p:nvSpPr>
        <p:spPr>
          <a:xfrm rot="0">
            <a:off x="9804286" y="3074766"/>
            <a:ext cx="7040639" cy="6054821"/>
          </a:xfrm>
          <a:prstGeom prst="rect">
            <a:avLst/>
          </a:prstGeom>
        </p:spPr>
        <p:txBody>
          <a:bodyPr anchor="t" rtlCol="false" tIns="0" lIns="0" bIns="0" rIns="0">
            <a:spAutoFit/>
          </a:bodyPr>
          <a:lstStyle/>
          <a:p>
            <a:pPr algn="l" marL="673870" indent="-336935" lvl="1">
              <a:lnSpc>
                <a:spcPts val="4369"/>
              </a:lnSpc>
              <a:buFont typeface="Arial"/>
              <a:buChar char="•"/>
            </a:pPr>
            <a:r>
              <a:rPr lang="en-US" sz="3121">
                <a:solidFill>
                  <a:srgbClr val="000000"/>
                </a:solidFill>
                <a:latin typeface="Alatsi"/>
                <a:ea typeface="Alatsi"/>
                <a:cs typeface="Alatsi"/>
                <a:sym typeface="Alatsi"/>
              </a:rPr>
              <a:t>Demand peaks at 8–10 AM and 6–8 PM (commute hours)</a:t>
            </a:r>
          </a:p>
          <a:p>
            <a:pPr algn="l" marL="673870" indent="-336935" lvl="1">
              <a:lnSpc>
                <a:spcPts val="4369"/>
              </a:lnSpc>
              <a:buFont typeface="Arial"/>
              <a:buChar char="•"/>
            </a:pPr>
            <a:r>
              <a:rPr lang="en-US" sz="3121">
                <a:solidFill>
                  <a:srgbClr val="000000"/>
                </a:solidFill>
                <a:latin typeface="Alatsi"/>
                <a:ea typeface="Alatsi"/>
                <a:cs typeface="Alatsi"/>
                <a:sym typeface="Alatsi"/>
              </a:rPr>
              <a:t>Top 5 zones generate the majority of rides &amp; revenue</a:t>
            </a:r>
          </a:p>
          <a:p>
            <a:pPr algn="l" marL="673870" indent="-336935" lvl="1">
              <a:lnSpc>
                <a:spcPts val="4369"/>
              </a:lnSpc>
              <a:buFont typeface="Arial"/>
              <a:buChar char="•"/>
            </a:pPr>
            <a:r>
              <a:rPr lang="en-US" sz="3121">
                <a:solidFill>
                  <a:srgbClr val="000000"/>
                </a:solidFill>
                <a:latin typeface="Alatsi"/>
                <a:ea typeface="Alatsi"/>
                <a:cs typeface="Alatsi"/>
                <a:sym typeface="Alatsi"/>
              </a:rPr>
              <a:t>UPI and Cash dominate payments, with UPI driving higher revenue</a:t>
            </a:r>
          </a:p>
          <a:p>
            <a:pPr algn="l" marL="673870" indent="-336935" lvl="1">
              <a:lnSpc>
                <a:spcPts val="4369"/>
              </a:lnSpc>
              <a:buFont typeface="Arial"/>
              <a:buChar char="•"/>
            </a:pPr>
            <a:r>
              <a:rPr lang="en-US" sz="3121">
                <a:solidFill>
                  <a:srgbClr val="000000"/>
                </a:solidFill>
                <a:latin typeface="Alatsi"/>
                <a:ea typeface="Alatsi"/>
                <a:cs typeface="Alatsi"/>
                <a:sym typeface="Alatsi"/>
              </a:rPr>
              <a:t>Evening time slots contribute maximum revenue share</a:t>
            </a:r>
          </a:p>
          <a:p>
            <a:pPr algn="l" marL="673870" indent="-336935" lvl="1">
              <a:lnSpc>
                <a:spcPts val="4369"/>
              </a:lnSpc>
              <a:buFont typeface="Arial"/>
              <a:buChar char="•"/>
            </a:pPr>
            <a:r>
              <a:rPr lang="en-US" sz="3121">
                <a:solidFill>
                  <a:srgbClr val="000000"/>
                </a:solidFill>
                <a:latin typeface="Alatsi"/>
                <a:ea typeface="Alatsi"/>
                <a:cs typeface="Alatsi"/>
                <a:sym typeface="Alatsi"/>
              </a:rPr>
              <a:t>Driver-side cancellations occur more frequently than customer-side</a:t>
            </a:r>
          </a:p>
          <a:p>
            <a:pPr algn="l">
              <a:lnSpc>
                <a:spcPts val="4369"/>
              </a:lnSpc>
            </a:pPr>
          </a:p>
        </p:txBody>
      </p:sp>
      <p:sp>
        <p:nvSpPr>
          <p:cNvPr name="TextBox 17" id="17"/>
          <p:cNvSpPr txBox="true"/>
          <p:nvPr/>
        </p:nvSpPr>
        <p:spPr>
          <a:xfrm rot="0">
            <a:off x="2337665" y="571674"/>
            <a:ext cx="13124723" cy="2088803"/>
          </a:xfrm>
          <a:prstGeom prst="rect">
            <a:avLst/>
          </a:prstGeom>
        </p:spPr>
        <p:txBody>
          <a:bodyPr anchor="t" rtlCol="false" tIns="0" lIns="0" bIns="0" rIns="0">
            <a:spAutoFit/>
          </a:bodyPr>
          <a:lstStyle/>
          <a:p>
            <a:pPr algn="ctr">
              <a:lnSpc>
                <a:spcPts val="8409"/>
              </a:lnSpc>
            </a:pPr>
            <a:r>
              <a:rPr lang="en-US" sz="6006">
                <a:solidFill>
                  <a:srgbClr val="000000"/>
                </a:solidFill>
                <a:latin typeface="Alatsi"/>
                <a:ea typeface="Alatsi"/>
                <a:cs typeface="Alatsi"/>
                <a:sym typeface="Alatsi"/>
              </a:rPr>
              <a:t>EDA </a:t>
            </a:r>
          </a:p>
          <a:p>
            <a:pPr algn="ctr">
              <a:lnSpc>
                <a:spcPts val="8409"/>
              </a:lnSpc>
            </a:pPr>
            <a:r>
              <a:rPr lang="en-US" sz="6006">
                <a:solidFill>
                  <a:srgbClr val="000000"/>
                </a:solidFill>
                <a:latin typeface="Alatsi"/>
                <a:ea typeface="Alatsi"/>
                <a:cs typeface="Alatsi"/>
                <a:sym typeface="Alatsi"/>
              </a:rPr>
              <a:t>CANCELLATIONS VS SUCCESS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METHODOLOGY</a:t>
            </a:r>
          </a:p>
        </p:txBody>
      </p:sp>
      <p:grpSp>
        <p:nvGrpSpPr>
          <p:cNvPr name="Group 3" id="3"/>
          <p:cNvGrpSpPr/>
          <p:nvPr/>
        </p:nvGrpSpPr>
        <p:grpSpPr>
          <a:xfrm rot="0">
            <a:off x="4067952" y="6732482"/>
            <a:ext cx="11666068" cy="1707976"/>
            <a:chOff x="0" y="0"/>
            <a:chExt cx="3072545" cy="449837"/>
          </a:xfrm>
        </p:grpSpPr>
        <p:sp>
          <p:nvSpPr>
            <p:cNvPr name="Freeform 4" id="4"/>
            <p:cNvSpPr/>
            <p:nvPr/>
          </p:nvSpPr>
          <p:spPr>
            <a:xfrm flipH="false" flipV="false" rot="0">
              <a:off x="0" y="0"/>
              <a:ext cx="3072545" cy="449837"/>
            </a:xfrm>
            <a:custGeom>
              <a:avLst/>
              <a:gdLst/>
              <a:ahLst/>
              <a:cxnLst/>
              <a:rect r="r" b="b" t="t" l="l"/>
              <a:pathLst>
                <a:path h="449837" w="3072545">
                  <a:moveTo>
                    <a:pt x="33845" y="0"/>
                  </a:moveTo>
                  <a:lnTo>
                    <a:pt x="3038700" y="0"/>
                  </a:lnTo>
                  <a:cubicBezTo>
                    <a:pt x="3047676" y="0"/>
                    <a:pt x="3056285" y="3566"/>
                    <a:pt x="3062632" y="9913"/>
                  </a:cubicBezTo>
                  <a:cubicBezTo>
                    <a:pt x="3068979" y="16260"/>
                    <a:pt x="3072545" y="24869"/>
                    <a:pt x="3072545" y="33845"/>
                  </a:cubicBezTo>
                  <a:lnTo>
                    <a:pt x="3072545" y="415992"/>
                  </a:lnTo>
                  <a:cubicBezTo>
                    <a:pt x="3072545" y="434684"/>
                    <a:pt x="3057392" y="449837"/>
                    <a:pt x="3038700" y="449837"/>
                  </a:cubicBezTo>
                  <a:lnTo>
                    <a:pt x="33845" y="449837"/>
                  </a:lnTo>
                  <a:cubicBezTo>
                    <a:pt x="15153" y="449837"/>
                    <a:pt x="0" y="434684"/>
                    <a:pt x="0" y="415992"/>
                  </a:cubicBezTo>
                  <a:lnTo>
                    <a:pt x="0" y="33845"/>
                  </a:lnTo>
                  <a:cubicBezTo>
                    <a:pt x="0" y="15153"/>
                    <a:pt x="15153" y="0"/>
                    <a:pt x="33845" y="0"/>
                  </a:cubicBezTo>
                  <a:close/>
                </a:path>
              </a:pathLst>
            </a:custGeom>
            <a:solidFill>
              <a:srgbClr val="E9C7C6"/>
            </a:solidFill>
          </p:spPr>
        </p:sp>
        <p:sp>
          <p:nvSpPr>
            <p:cNvPr name="TextBox 5" id="5"/>
            <p:cNvSpPr txBox="true"/>
            <p:nvPr/>
          </p:nvSpPr>
          <p:spPr>
            <a:xfrm>
              <a:off x="0" y="-38100"/>
              <a:ext cx="3072545" cy="48793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8</a:t>
              </a:r>
            </a:p>
          </p:txBody>
        </p:sp>
      </p:grpSp>
      <p:sp>
        <p:nvSpPr>
          <p:cNvPr name="Freeform 11" id="11"/>
          <p:cNvSpPr/>
          <p:nvPr/>
        </p:nvSpPr>
        <p:spPr>
          <a:xfrm flipH="false" flipV="false" rot="0">
            <a:off x="1475832"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0721225" y="8788169"/>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91252" y="3035779"/>
            <a:ext cx="16604706" cy="2982328"/>
          </a:xfrm>
          <a:custGeom>
            <a:avLst/>
            <a:gdLst/>
            <a:ahLst/>
            <a:cxnLst/>
            <a:rect r="r" b="b" t="t" l="l"/>
            <a:pathLst>
              <a:path h="2982328" w="16604706">
                <a:moveTo>
                  <a:pt x="0" y="0"/>
                </a:moveTo>
                <a:lnTo>
                  <a:pt x="16604706" y="0"/>
                </a:lnTo>
                <a:lnTo>
                  <a:pt x="16604706" y="2982328"/>
                </a:lnTo>
                <a:lnTo>
                  <a:pt x="0" y="2982328"/>
                </a:lnTo>
                <a:lnTo>
                  <a:pt x="0" y="0"/>
                </a:lnTo>
                <a:close/>
              </a:path>
            </a:pathLst>
          </a:custGeom>
          <a:blipFill>
            <a:blip r:embed="rId4"/>
            <a:stretch>
              <a:fillRect l="0" t="-457" r="-1423" b="-6128"/>
            </a:stretch>
          </a:blipFill>
        </p:spPr>
      </p:sp>
      <p:sp>
        <p:nvSpPr>
          <p:cNvPr name="TextBox 14" id="14"/>
          <p:cNvSpPr txBox="true"/>
          <p:nvPr/>
        </p:nvSpPr>
        <p:spPr>
          <a:xfrm rot="0">
            <a:off x="4067952" y="7049089"/>
            <a:ext cx="11372864" cy="1028822"/>
          </a:xfrm>
          <a:prstGeom prst="rect">
            <a:avLst/>
          </a:prstGeom>
        </p:spPr>
        <p:txBody>
          <a:bodyPr anchor="t" rtlCol="false" tIns="0" lIns="0" bIns="0" rIns="0">
            <a:spAutoFit/>
          </a:bodyPr>
          <a:lstStyle/>
          <a:p>
            <a:pPr algn="just">
              <a:lnSpc>
                <a:spcPts val="4193"/>
              </a:lnSpc>
            </a:pPr>
            <a:r>
              <a:rPr lang="en-US" sz="2995">
                <a:solidFill>
                  <a:srgbClr val="000000"/>
                </a:solidFill>
                <a:latin typeface="Alatsi"/>
                <a:ea typeface="Alatsi"/>
                <a:cs typeface="Alatsi"/>
                <a:sym typeface="Alatsi"/>
              </a:rPr>
              <a:t>Summary of relationship between search, search_got_quotes,  search_got_estimate,</a:t>
            </a:r>
            <a:r>
              <a:rPr lang="en-US" sz="2995">
                <a:solidFill>
                  <a:srgbClr val="000000"/>
                </a:solidFill>
                <a:latin typeface="Alatsi"/>
                <a:ea typeface="Alatsi"/>
                <a:cs typeface="Alatsi"/>
                <a:sym typeface="Alatsi"/>
              </a:rPr>
              <a:t>distance,fare with Zones</a:t>
            </a:r>
          </a:p>
        </p:txBody>
      </p:sp>
      <p:sp>
        <p:nvSpPr>
          <p:cNvPr name="AutoShape 15" id="15"/>
          <p:cNvSpPr/>
          <p:nvPr/>
        </p:nvSpPr>
        <p:spPr>
          <a:xfrm>
            <a:off x="-108059" y="9223192"/>
            <a:ext cx="7105264" cy="19050"/>
          </a:xfrm>
          <a:prstGeom prst="line">
            <a:avLst/>
          </a:prstGeom>
          <a:ln cap="flat" w="114300">
            <a:solidFill>
              <a:srgbClr val="9FC3D0"/>
            </a:solidFill>
            <a:prstDash val="solid"/>
            <a:headEnd type="none" len="sm" w="sm"/>
            <a:tailEnd type="none" len="sm" w="sm"/>
          </a:ln>
        </p:spPr>
      </p:sp>
      <p:sp>
        <p:nvSpPr>
          <p:cNvPr name="AutoShape 16" id="16"/>
          <p:cNvSpPr/>
          <p:nvPr/>
        </p:nvSpPr>
        <p:spPr>
          <a:xfrm>
            <a:off x="11582709" y="9223192"/>
            <a:ext cx="7105264" cy="19050"/>
          </a:xfrm>
          <a:prstGeom prst="line">
            <a:avLst/>
          </a:prstGeom>
          <a:ln cap="flat" w="114300">
            <a:solidFill>
              <a:srgbClr val="9FC3D0"/>
            </a:solidFill>
            <a:prstDash val="solid"/>
            <a:headEnd type="none" len="sm" w="sm"/>
            <a:tailEnd type="none" len="sm" w="sm"/>
          </a:ln>
        </p:spPr>
      </p:sp>
      <p:sp>
        <p:nvSpPr>
          <p:cNvPr name="Freeform 17" id="17"/>
          <p:cNvSpPr/>
          <p:nvPr/>
        </p:nvSpPr>
        <p:spPr>
          <a:xfrm flipH="false" flipV="false" rot="0">
            <a:off x="8381588" y="8485752"/>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5"/>
            <a:stretch>
              <a:fillRect l="0" t="0" r="0" b="0"/>
            </a:stretch>
          </a:blipFill>
        </p:spPr>
      </p:sp>
      <p:sp>
        <p:nvSpPr>
          <p:cNvPr name="Freeform 18" id="18"/>
          <p:cNvSpPr/>
          <p:nvPr/>
        </p:nvSpPr>
        <p:spPr>
          <a:xfrm flipH="false" flipV="false" rot="0">
            <a:off x="8533988" y="10027061"/>
            <a:ext cx="1829624" cy="66921"/>
          </a:xfrm>
          <a:custGeom>
            <a:avLst/>
            <a:gdLst/>
            <a:ahLst/>
            <a:cxnLst/>
            <a:rect r="r" b="b" t="t" l="l"/>
            <a:pathLst>
              <a:path h="66921" w="1829624">
                <a:moveTo>
                  <a:pt x="0" y="0"/>
                </a:moveTo>
                <a:lnTo>
                  <a:pt x="1829624" y="0"/>
                </a:lnTo>
                <a:lnTo>
                  <a:pt x="1829624" y="66921"/>
                </a:lnTo>
                <a:lnTo>
                  <a:pt x="0" y="66921"/>
                </a:lnTo>
                <a:lnTo>
                  <a:pt x="0" y="0"/>
                </a:lnTo>
                <a:close/>
              </a:path>
            </a:pathLst>
          </a:custGeom>
          <a:blipFill>
            <a:blip r:embed="rId5"/>
            <a:stretch>
              <a:fillRect l="0" t="-2075435"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3849355" y="1663637"/>
            <a:ext cx="10927328" cy="7594663"/>
          </a:xfrm>
          <a:custGeom>
            <a:avLst/>
            <a:gdLst/>
            <a:ahLst/>
            <a:cxnLst/>
            <a:rect r="r" b="b" t="t" l="l"/>
            <a:pathLst>
              <a:path h="7594663" w="10927328">
                <a:moveTo>
                  <a:pt x="0" y="0"/>
                </a:moveTo>
                <a:lnTo>
                  <a:pt x="10927328" y="0"/>
                </a:lnTo>
                <a:lnTo>
                  <a:pt x="10927328" y="7594663"/>
                </a:lnTo>
                <a:lnTo>
                  <a:pt x="0" y="7594663"/>
                </a:lnTo>
                <a:lnTo>
                  <a:pt x="0" y="0"/>
                </a:lnTo>
                <a:close/>
              </a:path>
            </a:pathLst>
          </a:custGeom>
          <a:blipFill>
            <a:blip r:embed="rId2"/>
            <a:stretch>
              <a:fillRect l="-738" t="0" r="-738" b="-561"/>
            </a:stretch>
          </a:blipFill>
        </p:spPr>
      </p:sp>
      <p:sp>
        <p:nvSpPr>
          <p:cNvPr name="TextBox 3" id="3"/>
          <p:cNvSpPr txBox="true"/>
          <p:nvPr/>
        </p:nvSpPr>
        <p:spPr>
          <a:xfrm rot="0">
            <a:off x="873935" y="92712"/>
            <a:ext cx="16547832" cy="1335401"/>
          </a:xfrm>
          <a:prstGeom prst="rect">
            <a:avLst/>
          </a:prstGeom>
        </p:spPr>
        <p:txBody>
          <a:bodyPr anchor="t" rtlCol="false" tIns="0" lIns="0" bIns="0" rIns="0">
            <a:spAutoFit/>
          </a:bodyPr>
          <a:lstStyle/>
          <a:p>
            <a:pPr algn="ctr">
              <a:lnSpc>
                <a:spcPts val="10920"/>
              </a:lnSpc>
            </a:pPr>
            <a:r>
              <a:rPr lang="en-US" sz="7800">
                <a:solidFill>
                  <a:srgbClr val="000000"/>
                </a:solidFill>
                <a:latin typeface="Alatsi"/>
                <a:ea typeface="Alatsi"/>
                <a:cs typeface="Alatsi"/>
                <a:sym typeface="Alatsi"/>
              </a:rPr>
              <a:t>DASHBOARD</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10</a:t>
              </a:r>
            </a:p>
          </p:txBody>
        </p:sp>
      </p:grpSp>
      <p:sp>
        <p:nvSpPr>
          <p:cNvPr name="Freeform 9" id="9"/>
          <p:cNvSpPr/>
          <p:nvPr/>
        </p:nvSpPr>
        <p:spPr>
          <a:xfrm flipH="false" flipV="false" rot="0">
            <a:off x="16045901" y="8530385"/>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4556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3214667" y="2797221"/>
            <a:ext cx="4044633" cy="4044617"/>
            <a:chOff x="0" y="0"/>
            <a:chExt cx="6350025" cy="6350000"/>
          </a:xfrm>
        </p:grpSpPr>
        <p:sp>
          <p:nvSpPr>
            <p:cNvPr name="Freeform 6" id="6"/>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25046" t="0" r="-25046" b="0"/>
              </a:stretch>
            </a:blipFill>
          </p:spPr>
        </p:sp>
      </p:gr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11</a:t>
              </a:r>
            </a:p>
          </p:txBody>
        </p:sp>
      </p:grpSp>
      <p:sp>
        <p:nvSpPr>
          <p:cNvPr name="TextBox 12" id="12"/>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CONCLUSION</a:t>
            </a:r>
          </a:p>
        </p:txBody>
      </p:sp>
      <p:sp>
        <p:nvSpPr>
          <p:cNvPr name="TextBox 13" id="13"/>
          <p:cNvSpPr txBox="true"/>
          <p:nvPr/>
        </p:nvSpPr>
        <p:spPr>
          <a:xfrm rot="0">
            <a:off x="1209670" y="2876930"/>
            <a:ext cx="9904415" cy="2996814"/>
          </a:xfrm>
          <a:prstGeom prst="rect">
            <a:avLst/>
          </a:prstGeom>
        </p:spPr>
        <p:txBody>
          <a:bodyPr anchor="t" rtlCol="false" tIns="0" lIns="0" bIns="0" rIns="0">
            <a:spAutoFit/>
          </a:bodyPr>
          <a:lstStyle/>
          <a:p>
            <a:pPr algn="l">
              <a:lnSpc>
                <a:spcPts val="2940"/>
              </a:lnSpc>
            </a:pPr>
            <a:r>
              <a:rPr lang="en-US" sz="2100" b="true">
                <a:solidFill>
                  <a:srgbClr val="000000"/>
                </a:solidFill>
                <a:latin typeface="Agrandir Bold"/>
                <a:ea typeface="Agrandir Bold"/>
                <a:cs typeface="Agrandir Bold"/>
                <a:sym typeface="Agrandir Bold"/>
              </a:rPr>
              <a:t>•The methodology ensured clean and consistent data</a:t>
            </a:r>
          </a:p>
          <a:p>
            <a:pPr algn="l">
              <a:lnSpc>
                <a:spcPts val="2940"/>
              </a:lnSpc>
            </a:pPr>
          </a:p>
          <a:p>
            <a:pPr algn="l">
              <a:lnSpc>
                <a:spcPts val="2940"/>
              </a:lnSpc>
            </a:pPr>
            <a:r>
              <a:rPr lang="en-US" sz="2100" b="true">
                <a:solidFill>
                  <a:srgbClr val="000000"/>
                </a:solidFill>
                <a:latin typeface="Agrandir Bold"/>
                <a:ea typeface="Agrandir Bold"/>
                <a:cs typeface="Agrandir Bold"/>
                <a:sym typeface="Agrandir Bold"/>
              </a:rPr>
              <a:t>•Visualisations highlighted both operational inefficiencies and business opportunities</a:t>
            </a:r>
          </a:p>
          <a:p>
            <a:pPr algn="l">
              <a:lnSpc>
                <a:spcPts val="2940"/>
              </a:lnSpc>
            </a:pPr>
          </a:p>
          <a:p>
            <a:pPr algn="l">
              <a:lnSpc>
                <a:spcPts val="2940"/>
              </a:lnSpc>
            </a:pPr>
            <a:r>
              <a:rPr lang="en-US" sz="2100" b="true">
                <a:solidFill>
                  <a:srgbClr val="000000"/>
                </a:solidFill>
                <a:latin typeface="Agrandir Bold"/>
                <a:ea typeface="Agrandir Bold"/>
                <a:cs typeface="Agrandir Bold"/>
                <a:sym typeface="Agrandir Bold"/>
              </a:rPr>
              <a:t>•Forms the technical base for decision-making and strategy formulation</a:t>
            </a:r>
          </a:p>
          <a:p>
            <a:pPr algn="l">
              <a:lnSpc>
                <a:spcPts val="5852"/>
              </a:lnSpc>
            </a:pPr>
          </a:p>
        </p:txBody>
      </p:sp>
      <p:sp>
        <p:nvSpPr>
          <p:cNvPr name="Freeform 14" id="14"/>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5" id="15"/>
          <p:cNvPicPr>
            <a:picLocks noChangeAspect="true"/>
          </p:cNvPicPr>
          <p:nvPr/>
        </p:nvPicPr>
        <p:blipFill>
          <a:blip r:embed="rId5"/>
          <a:stretch>
            <a:fillRect/>
          </a:stretch>
        </p:blipFill>
        <p:spPr>
          <a:xfrm rot="0">
            <a:off x="1268843" y="5459869"/>
            <a:ext cx="4966502" cy="3689256"/>
          </a:xfrm>
          <a:prstGeom prst="rect">
            <a:avLst/>
          </a:prstGeom>
        </p:spPr>
      </p:pic>
      <p:sp>
        <p:nvSpPr>
          <p:cNvPr name="Freeform 16" id="16"/>
          <p:cNvSpPr/>
          <p:nvPr/>
        </p:nvSpPr>
        <p:spPr>
          <a:xfrm flipH="false" flipV="false" rot="0">
            <a:off x="8229188" y="8333352"/>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3809889" y="2113649"/>
            <a:ext cx="11627497" cy="2514704"/>
          </a:xfrm>
          <a:prstGeom prst="rect">
            <a:avLst/>
          </a:prstGeom>
        </p:spPr>
        <p:txBody>
          <a:bodyPr anchor="t" rtlCol="false" tIns="0" lIns="0" bIns="0" rIns="0">
            <a:spAutoFit/>
          </a:bodyPr>
          <a:lstStyle/>
          <a:p>
            <a:pPr algn="ctr">
              <a:lnSpc>
                <a:spcPts val="20573"/>
              </a:lnSpc>
            </a:pPr>
            <a:r>
              <a:rPr lang="en-US" sz="14695">
                <a:solidFill>
                  <a:srgbClr val="000000"/>
                </a:solidFill>
                <a:latin typeface="Alatsi"/>
                <a:ea typeface="Alatsi"/>
                <a:cs typeface="Alatsi"/>
                <a:sym typeface="Alatsi"/>
              </a:rPr>
              <a:t>APPENDIX</a:t>
            </a:r>
          </a:p>
        </p:txBody>
      </p:sp>
      <p:sp>
        <p:nvSpPr>
          <p:cNvPr name="TextBox 3" id="3"/>
          <p:cNvSpPr txBox="true"/>
          <p:nvPr/>
        </p:nvSpPr>
        <p:spPr>
          <a:xfrm rot="0">
            <a:off x="4530184" y="5037929"/>
            <a:ext cx="10669737" cy="3629275"/>
          </a:xfrm>
          <a:prstGeom prst="rect">
            <a:avLst/>
          </a:prstGeom>
        </p:spPr>
        <p:txBody>
          <a:bodyPr anchor="t" rtlCol="false" tIns="0" lIns="0" bIns="0" rIns="0">
            <a:spAutoFit/>
          </a:bodyPr>
          <a:lstStyle/>
          <a:p>
            <a:pPr algn="ctr">
              <a:lnSpc>
                <a:spcPts val="5763"/>
              </a:lnSpc>
            </a:pPr>
            <a:r>
              <a:rPr lang="en-US" sz="4116">
                <a:solidFill>
                  <a:srgbClr val="000000"/>
                </a:solidFill>
                <a:latin typeface="Alatsi"/>
                <a:ea typeface="Alatsi"/>
                <a:cs typeface="Alatsi"/>
                <a:sym typeface="Alatsi"/>
              </a:rPr>
              <a:t>•</a:t>
            </a:r>
            <a:r>
              <a:rPr lang="en-US" sz="4116">
                <a:solidFill>
                  <a:srgbClr val="000000"/>
                </a:solidFill>
                <a:latin typeface="Alatsi"/>
                <a:ea typeface="Alatsi"/>
                <a:cs typeface="Alatsi"/>
                <a:sym typeface="Alatsi"/>
              </a:rPr>
              <a:t>Data model screenshot</a:t>
            </a:r>
          </a:p>
          <a:p>
            <a:pPr algn="ctr">
              <a:lnSpc>
                <a:spcPts val="5763"/>
              </a:lnSpc>
            </a:pPr>
            <a:r>
              <a:rPr lang="en-US" sz="4116">
                <a:solidFill>
                  <a:srgbClr val="000000"/>
                </a:solidFill>
                <a:latin typeface="Alatsi"/>
                <a:ea typeface="Alatsi"/>
                <a:cs typeface="Alatsi"/>
                <a:sym typeface="Alatsi"/>
              </a:rPr>
              <a:t>•Calculated fields (cancellation %, completion ratio, conversion after quotes)</a:t>
            </a:r>
          </a:p>
          <a:p>
            <a:pPr algn="ctr">
              <a:lnSpc>
                <a:spcPts val="5763"/>
              </a:lnSpc>
            </a:pPr>
            <a:r>
              <a:rPr lang="en-US" sz="4116">
                <a:solidFill>
                  <a:srgbClr val="000000"/>
                </a:solidFill>
                <a:latin typeface="Alatsi"/>
                <a:ea typeface="Alatsi"/>
                <a:cs typeface="Alatsi"/>
                <a:sym typeface="Alatsi"/>
              </a:rPr>
              <a:t>•Dashboard snapshots</a:t>
            </a:r>
          </a:p>
          <a:p>
            <a:pPr algn="ctr">
              <a:lnSpc>
                <a:spcPts val="5763"/>
              </a:lnSpc>
            </a:pP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8950241" y="665199"/>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grpSp>
        <p:nvGrpSpPr>
          <p:cNvPr name="Group 17" id="17"/>
          <p:cNvGrpSpPr/>
          <p:nvPr/>
        </p:nvGrpSpPr>
        <p:grpSpPr>
          <a:xfrm rot="0">
            <a:off x="15859155" y="0"/>
            <a:ext cx="1562612" cy="1673225"/>
            <a:chOff x="0" y="0"/>
            <a:chExt cx="2083482" cy="2230967"/>
          </a:xfrm>
        </p:grpSpPr>
        <p:grpSp>
          <p:nvGrpSpPr>
            <p:cNvPr name="Group 18" id="18"/>
            <p:cNvGrpSpPr/>
            <p:nvPr/>
          </p:nvGrpSpPr>
          <p:grpSpPr>
            <a:xfrm rot="0">
              <a:off x="75599" y="0"/>
              <a:ext cx="1932284" cy="2230967"/>
              <a:chOff x="0" y="0"/>
              <a:chExt cx="703982" cy="812800"/>
            </a:xfrm>
          </p:grpSpPr>
          <p:sp>
            <p:nvSpPr>
              <p:cNvPr name="Freeform 19" id="1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0" id="2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12</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421419" y="2113645"/>
            <a:ext cx="11627497" cy="2514704"/>
          </a:xfrm>
          <a:prstGeom prst="rect">
            <a:avLst/>
          </a:prstGeom>
        </p:spPr>
        <p:txBody>
          <a:bodyPr anchor="t" rtlCol="false" tIns="0" lIns="0" bIns="0" rIns="0">
            <a:spAutoFit/>
          </a:bodyPr>
          <a:lstStyle/>
          <a:p>
            <a:pPr algn="ctr">
              <a:lnSpc>
                <a:spcPts val="20573"/>
              </a:lnSpc>
            </a:pPr>
            <a:r>
              <a:rPr lang="en-US" sz="14695">
                <a:solidFill>
                  <a:srgbClr val="000000"/>
                </a:solidFill>
                <a:latin typeface="Alatsi"/>
                <a:ea typeface="Alatsi"/>
                <a:cs typeface="Alatsi"/>
                <a:sym typeface="Alatsi"/>
              </a:rPr>
              <a:t>THANK YOU</a:t>
            </a:r>
          </a:p>
        </p:txBody>
      </p:sp>
      <p:sp>
        <p:nvSpPr>
          <p:cNvPr name="TextBox 3" id="3"/>
          <p:cNvSpPr txBox="true"/>
          <p:nvPr/>
        </p:nvSpPr>
        <p:spPr>
          <a:xfrm rot="0">
            <a:off x="2900300" y="5067300"/>
            <a:ext cx="10669737" cy="703169"/>
          </a:xfrm>
          <a:prstGeom prst="rect">
            <a:avLst/>
          </a:prstGeom>
        </p:spPr>
        <p:txBody>
          <a:bodyPr anchor="t" rtlCol="false" tIns="0" lIns="0" bIns="0" rIns="0">
            <a:spAutoFit/>
          </a:bodyPr>
          <a:lstStyle/>
          <a:p>
            <a:pPr algn="ctr">
              <a:lnSpc>
                <a:spcPts val="5763"/>
              </a:lnSpc>
            </a:pPr>
            <a:r>
              <a:rPr lang="en-US" sz="4116">
                <a:solidFill>
                  <a:srgbClr val="000000"/>
                </a:solidFill>
                <a:latin typeface="Alatsi"/>
                <a:ea typeface="Alatsi"/>
                <a:cs typeface="Alatsi"/>
                <a:sym typeface="Alatsi"/>
              </a:rPr>
              <a:t>Presented By- Anjali Singh</a:t>
            </a:r>
          </a:p>
        </p:txBody>
      </p:sp>
      <p:grpSp>
        <p:nvGrpSpPr>
          <p:cNvPr name="Group 4" id="4"/>
          <p:cNvGrpSpPr/>
          <p:nvPr/>
        </p:nvGrpSpPr>
        <p:grpSpPr>
          <a:xfrm rot="0">
            <a:off x="14048917" y="-29371"/>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405544" y="448261"/>
            <a:ext cx="1829624" cy="1455830"/>
          </a:xfrm>
          <a:custGeom>
            <a:avLst/>
            <a:gdLst/>
            <a:ahLst/>
            <a:cxnLst/>
            <a:rect r="r" b="b" t="t" l="l"/>
            <a:pathLst>
              <a:path h="1455830" w="1829624">
                <a:moveTo>
                  <a:pt x="0" y="0"/>
                </a:moveTo>
                <a:lnTo>
                  <a:pt x="1829624" y="0"/>
                </a:lnTo>
                <a:lnTo>
                  <a:pt x="1829624" y="1455830"/>
                </a:lnTo>
                <a:lnTo>
                  <a:pt x="0" y="1455830"/>
                </a:lnTo>
                <a:lnTo>
                  <a:pt x="0" y="0"/>
                </a:lnTo>
                <a:close/>
              </a:path>
            </a:pathLst>
          </a:custGeom>
          <a:blipFill>
            <a:blip r:embed="rId4"/>
            <a:stretch>
              <a:fillRect l="0" t="0" r="0" b="0"/>
            </a:stretch>
          </a:blipFill>
        </p:spPr>
      </p:sp>
      <p:grpSp>
        <p:nvGrpSpPr>
          <p:cNvPr name="Group 17" id="17"/>
          <p:cNvGrpSpPr/>
          <p:nvPr/>
        </p:nvGrpSpPr>
        <p:grpSpPr>
          <a:xfrm rot="0">
            <a:off x="14201317" y="123029"/>
            <a:ext cx="4239083" cy="10287000"/>
            <a:chOff x="0" y="0"/>
            <a:chExt cx="5652111" cy="13716000"/>
          </a:xfrm>
        </p:grpSpPr>
        <p:grpSp>
          <p:nvGrpSpPr>
            <p:cNvPr name="Group 18" id="18"/>
            <p:cNvGrpSpPr/>
            <p:nvPr/>
          </p:nvGrpSpPr>
          <p:grpSpPr>
            <a:xfrm rot="0">
              <a:off x="2826056" y="0"/>
              <a:ext cx="2826056" cy="13716000"/>
              <a:chOff x="0" y="0"/>
              <a:chExt cx="558233" cy="2709333"/>
            </a:xfrm>
          </p:grpSpPr>
          <p:sp>
            <p:nvSpPr>
              <p:cNvPr name="Freeform 19" id="1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20" id="2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13028" y="0"/>
              <a:ext cx="2826056" cy="13716000"/>
              <a:chOff x="0" y="0"/>
              <a:chExt cx="558233" cy="2709333"/>
            </a:xfrm>
          </p:grpSpPr>
          <p:sp>
            <p:nvSpPr>
              <p:cNvPr name="Freeform 22" id="2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23" id="23"/>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0" y="0"/>
              <a:ext cx="2826056" cy="13716000"/>
              <a:chOff x="0" y="0"/>
              <a:chExt cx="558233" cy="2709333"/>
            </a:xfrm>
          </p:grpSpPr>
          <p:sp>
            <p:nvSpPr>
              <p:cNvPr name="Freeform 25" id="2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26" id="26"/>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grpSp>
        <p:nvGrpSpPr>
          <p:cNvPr name="Group 27" id="27"/>
          <p:cNvGrpSpPr/>
          <p:nvPr/>
        </p:nvGrpSpPr>
        <p:grpSpPr>
          <a:xfrm rot="0">
            <a:off x="14353717" y="275429"/>
            <a:ext cx="4239083" cy="10287000"/>
            <a:chOff x="0" y="0"/>
            <a:chExt cx="5652111" cy="13716000"/>
          </a:xfrm>
        </p:grpSpPr>
        <p:grpSp>
          <p:nvGrpSpPr>
            <p:cNvPr name="Group 28" id="28"/>
            <p:cNvGrpSpPr/>
            <p:nvPr/>
          </p:nvGrpSpPr>
          <p:grpSpPr>
            <a:xfrm rot="0">
              <a:off x="2826056" y="0"/>
              <a:ext cx="2826056" cy="13716000"/>
              <a:chOff x="0" y="0"/>
              <a:chExt cx="558233" cy="2709333"/>
            </a:xfrm>
          </p:grpSpPr>
          <p:sp>
            <p:nvSpPr>
              <p:cNvPr name="Freeform 29" id="2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30" id="3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413028" y="0"/>
              <a:ext cx="2826056" cy="13716000"/>
              <a:chOff x="0" y="0"/>
              <a:chExt cx="558233" cy="2709333"/>
            </a:xfrm>
          </p:grpSpPr>
          <p:sp>
            <p:nvSpPr>
              <p:cNvPr name="Freeform 32" id="3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33" id="33"/>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0" y="0"/>
              <a:ext cx="2826056" cy="13716000"/>
              <a:chOff x="0" y="0"/>
              <a:chExt cx="558233" cy="2709333"/>
            </a:xfrm>
          </p:grpSpPr>
          <p:sp>
            <p:nvSpPr>
              <p:cNvPr name="Freeform 35" id="3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36" id="36"/>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37" id="37"/>
          <p:cNvSpPr/>
          <p:nvPr/>
        </p:nvSpPr>
        <p:spPr>
          <a:xfrm flipH="false" flipV="false" rot="0">
            <a:off x="-2856925" y="-2498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8" id="38"/>
          <p:cNvSpPr/>
          <p:nvPr/>
        </p:nvSpPr>
        <p:spPr>
          <a:xfrm flipH="false" flipV="false" rot="0">
            <a:off x="-3657600" y="2389870"/>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0">
            <a:off x="-2856925" y="486765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0" id="40"/>
          <p:cNvSpPr/>
          <p:nvPr/>
        </p:nvSpPr>
        <p:spPr>
          <a:xfrm flipH="false" flipV="false" rot="0">
            <a:off x="-2304118" y="7932245"/>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DAG0MwA67lI</dc:identifier>
  <dcterms:modified xsi:type="dcterms:W3CDTF">2011-08-01T06:04:30Z</dcterms:modified>
  <cp:revision>1</cp:revision>
  <dc:title>Beige Pastel Minimalist Thesis Defense Presentation</dc:title>
</cp:coreProperties>
</file>